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fb151bc1954e2a" /><Relationship Type="http://schemas.openxmlformats.org/officeDocument/2006/relationships/extended-properties" Target="/docProps/app.xml" Id="R76a92551aa4d4b33" /><Relationship Type="http://schemas.openxmlformats.org/officeDocument/2006/relationships/officeDocument" Target="/ppt/presentation.xml" Id="Rc859e5a1fdba4c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2cebdb4764fd2"/>
  </p:sldMasterIdLst>
  <p:notesMasterIdLst>
    <p:notesMasterId xmlns:r="http://schemas.openxmlformats.org/officeDocument/2006/relationships" r:id="R1c62c022d0b0478d"/>
  </p:notesMasterIdLst>
  <p:sldIdLst>
    <p:sldId xmlns:r="http://schemas.openxmlformats.org/officeDocument/2006/relationships" id="256" r:id="R87ab64590f554a94"/>
    <p:sldId xmlns:r="http://schemas.openxmlformats.org/officeDocument/2006/relationships" id="257" r:id="Ra62c5dc8640f43bb"/>
    <p:sldId xmlns:r="http://schemas.openxmlformats.org/officeDocument/2006/relationships" id="258" r:id="Rcc1d4bfb79b94181"/>
    <p:sldId xmlns:r="http://schemas.openxmlformats.org/officeDocument/2006/relationships" id="259" r:id="R5bb9229e2ae94923"/>
    <p:sldId xmlns:r="http://schemas.openxmlformats.org/officeDocument/2006/relationships" id="260" r:id="R1d5b761c36434ee9"/>
    <p:sldId xmlns:r="http://schemas.openxmlformats.org/officeDocument/2006/relationships" id="261" r:id="Rd5840b9e1e1e4e6f"/>
    <p:sldId xmlns:r="http://schemas.openxmlformats.org/officeDocument/2006/relationships" id="262" r:id="R84cbcb14009843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de8b830a8c4553" /><Relationship Type="http://schemas.openxmlformats.org/officeDocument/2006/relationships/slideMaster" Target="/ppt/slideMasters/slideMaster1.xml" Id="R0b82cebdb4764fd2" /><Relationship Type="http://schemas.openxmlformats.org/officeDocument/2006/relationships/notesMaster" Target="/ppt/notesMasters/notesMaster1.xml" Id="R1c62c022d0b0478d" /><Relationship Type="http://schemas.openxmlformats.org/officeDocument/2006/relationships/presProps" Target="/ppt/presProps.xml" Id="R8babc3ade3f948c4" /><Relationship Type="http://schemas.openxmlformats.org/officeDocument/2006/relationships/tableStyles" Target="/ppt/tableStyles.xml" Id="Rbded4be4c2fa411d" /><Relationship Type="http://schemas.openxmlformats.org/officeDocument/2006/relationships/slide" Target="/ppt/slides/slide1.xml" Id="R87ab64590f554a94" /><Relationship Type="http://schemas.openxmlformats.org/officeDocument/2006/relationships/slide" Target="/ppt/slides/slide2.xml" Id="Ra62c5dc8640f43bb" /><Relationship Type="http://schemas.openxmlformats.org/officeDocument/2006/relationships/slide" Target="/ppt/slides/slide3.xml" Id="Rcc1d4bfb79b94181" /><Relationship Type="http://schemas.openxmlformats.org/officeDocument/2006/relationships/slide" Target="/ppt/slides/slide4.xml" Id="R5bb9229e2ae94923" /><Relationship Type="http://schemas.openxmlformats.org/officeDocument/2006/relationships/slide" Target="/ppt/slides/slide5.xml" Id="R1d5b761c36434ee9" /><Relationship Type="http://schemas.openxmlformats.org/officeDocument/2006/relationships/slide" Target="/ppt/slides/slide6.xml" Id="Rd5840b9e1e1e4e6f" /><Relationship Type="http://schemas.openxmlformats.org/officeDocument/2006/relationships/slide" Target="/ppt/slides/slide7.xml" Id="R84cbcb14009843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49b0b585f44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eace5a63b3415f" /><Relationship Type="http://schemas.openxmlformats.org/officeDocument/2006/relationships/notesMaster" Target="/ppt/notesMasters/notesMaster1.xml" Id="R9b81949da7d043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fda88627f94a3e" /><Relationship Type="http://schemas.openxmlformats.org/officeDocument/2006/relationships/notesMaster" Target="/ppt/notesMasters/notesMaster1.xml" Id="R88d3f3249bf64a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9f9e05e5114cba" /><Relationship Type="http://schemas.openxmlformats.org/officeDocument/2006/relationships/notesMaster" Target="/ppt/notesMasters/notesMaster1.xml" Id="R89eb85000fb047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15da74f4674bee" /><Relationship Type="http://schemas.openxmlformats.org/officeDocument/2006/relationships/notesMaster" Target="/ppt/notesMasters/notesMaster1.xml" Id="Rb5f0c3b7ea5d4e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64e68c6c884647" /><Relationship Type="http://schemas.openxmlformats.org/officeDocument/2006/relationships/notesMaster" Target="/ppt/notesMasters/notesMaster1.xml" Id="Rdd7e52b63f674f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905c725264e40" /><Relationship Type="http://schemas.openxmlformats.org/officeDocument/2006/relationships/notesMaster" Target="/ppt/notesMasters/notesMaster1.xml" Id="Raa2eac2d52344b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81a78ef9f04445" /><Relationship Type="http://schemas.openxmlformats.org/officeDocument/2006/relationships/notesMaster" Target="/ppt/notesMasters/notesMaster1.xml" Id="R40ccc5bf87604f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counterparties, economics, dates, authorities and recommendations are HYPOTHESIS / TBD WITH CLIENT or SYNTHETIC / DEMO DATA. This pack is not legal advice and does not authorize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confirm which deltas are accepted facts, which are proposals, and which still need written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assign an owner and authority route to every high-priority open issue.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select preferred / counter / fallback boundary and name the authorized messenger.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accept, mitigate, transfer, avoid or defer each material residual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choose the outcome and state every condition, owner and expiry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decision: record the chosen path, authority evidence, authorized message, owners, dates and next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63f9d585443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9eff950d17474f" /><Relationship Type="http://schemas.openxmlformats.org/officeDocument/2006/relationships/slideLayout" Target="/ppt/slideLayouts/slideLayout1.xml" Id="R3e373e14ef734e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73e14ef734e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ff7cc14a34a76" /><Relationship Type="http://schemas.openxmlformats.org/officeDocument/2006/relationships/notesSlide" Target="/ppt/notesSlides/notesSlide1.xml" Id="Re18319c6c91045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44b2b14304e3a" /><Relationship Type="http://schemas.openxmlformats.org/officeDocument/2006/relationships/notesSlide" Target="/ppt/notesSlides/notesSlide2.xml" Id="Rf2f4b0045c134b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6c6ad3f174fe0" /><Relationship Type="http://schemas.openxmlformats.org/officeDocument/2006/relationships/notesSlide" Target="/ppt/notesSlides/notesSlide3.xml" Id="Rec6e1d05f89f45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73eea58df46b2" /><Relationship Type="http://schemas.openxmlformats.org/officeDocument/2006/relationships/notesSlide" Target="/ppt/notesSlides/notesSlide4.xml" Id="Rf7fc1563fdf24a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0d91cf95348af" /><Relationship Type="http://schemas.openxmlformats.org/officeDocument/2006/relationships/notesSlide" Target="/ppt/notesSlides/notesSlide5.xml" Id="R08c3b18d9f6346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81d56de7d41a2" /><Relationship Type="http://schemas.openxmlformats.org/officeDocument/2006/relationships/notesSlide" Target="/ppt/notesSlides/notesSlide6.xml" Id="R75e5af9b1fcf43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90ac58f1d4bf6" /><Relationship Type="http://schemas.openxmlformats.org/officeDocument/2006/relationships/notesSlide" Target="/ppt/notesSlides/notesSlide7.xml" Id="R64f6b43784dc47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FB54E-0C59-449D-84BD-BA4B3664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74808-8D7F-4544-962D-EA50DB3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6F352-4121-4126-8163-F925AE0F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rPr>
              <a:t>OPTIMUM / AMAT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181F2-9684-487C-9338-8DBE1CE0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71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 bounded decision is needed before terms or alternatives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E7E80-855F-4130-82E3-978BD85B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rPr>
              <a:t>Negotiation decision pack | internal client decision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091AD-4667-4C1B-9AF6-A66F36DC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28F5A-C1CD-4170-B0E6-81A0D1E8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FBBA2-8543-4094-86DD-4348A30A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ED1FD-C41E-4FC4-9F1C-AC19DDE1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SCENARIOS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C4C02-B996-4155-9144-E7DC85E4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ECC73-1363-4B58-B391-01126922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C8048-8BD4-4BC4-8EC2-BB227F50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66975-BBAD-439F-BAD8-5A2E8688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6212E-F031-446B-92A6-BD686B0F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rPr>
              <a:t>PRE-KICKOFF DRAFT · 2026-09-27</a:t>
            </a:r>
          </a:p>
        </p:txBody>
      </p:sp>
    </p:spTree>
    <p:extLst>
      <p:ext uri="{BB962C8B-B14F-4D97-AF65-F5344CB8AC3E}">
        <p14:creationId xmlns:p14="http://schemas.microsoft.com/office/powerpoint/2010/main" val="608620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8165E-AAD1-4F66-B9AE-3ADC0B3A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The demo package has moved, but evidence and protection gaps remain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898B5-3E4E-4211-9B25-D46353A1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MATERIAL DELTA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AC9C3-A7A9-4C52-BD9E-2593718F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89D11-F87F-4717-9357-6DE0CC5F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19C36-AB0B-4DF5-B884-12A3DF00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A338C-9C04-4A60-8171-035D7C8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573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Term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9BEBC-2E2D-46E7-B15C-D3FB0722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Latest demo delta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9C46A-C0B3-4AD4-8612-3BC2FB38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857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Decision implication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D8624-D32D-4845-A3D3-58B11238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46AEC-D042-4028-B705-6A86C00C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098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Volume / 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59F20-7CC2-4551-8343-DC69FDDA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098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Schedule promised; not evidenced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7E03D-9C6C-4442-86DE-15576658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098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Condition preferred status on dated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443C1-F8CB-491A-A298-857E4411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3C2DC-8556-4087-8A63-83EFA5E8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0990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Delivery / COD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6AD81-2FCB-4EB3-B4B2-C60337CA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099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Longstop discussed; remedy 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BE23C-D974-42B3-A3EF-5B264C72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099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Counter with remedy ladder and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782BD-F44C-483A-BF78-81E23DF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9A960-F1BF-4A20-9648-5F512598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997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Certificates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0E236-6B1E-4C4C-B584-D0098DE2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997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Transfer concept improved; replacement open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4D47C-D99C-42DE-AB9C-8723FB0A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0997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Require validity, timing and replacement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0C288-C548-4802-9D30-3DEB916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69052-40B3-4988-8D95-AEA7B389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100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Price / index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D0246-69EF-4F8C-9737-1EA04833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100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Index clearer; cap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5B064-DADE-4AA3-918E-078D7A02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2100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Model bounded pass-through scenarios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CCD9C-6339-4CE8-97F8-396FAA4B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Do not convert discussion language into an agreed term; use the controlled issue tracker and final documents.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D1576-15F4-44C9-9F20-90DCFE5A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decision draft | No client-specific facts asserted</a:t>
            </a:r>
          </a:p>
        </p:txBody>
      </p:sp>
    </p:spTree>
    <p:extLst>
      <p:ext uri="{BB962C8B-B14F-4D97-AF65-F5344CB8AC3E}">
        <p14:creationId xmlns:p14="http://schemas.microsoft.com/office/powerpoint/2010/main" val="1405364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72322-EE69-42F2-81A0-79270BE4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Remaining issues differ in value, risk and approval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CC300-A027-4DE0-BF85-BCDD5AD4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OPEN-ISSUE HEATMAP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C5FCB-15E6-4D31-92A1-5BFA85ED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8AB31-CBB8-4648-A866-DB1D0946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81898-2CBA-4CF0-AEA7-D2D60AE0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662D4-9E91-472B-9E2D-0151D3D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573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Issue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CDAE4-13D3-4BF3-9838-DD0EF809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573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Priority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A7C51-AE70-4AE3-AAE9-40E72CE5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573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B931C-2A08-4D5C-9137-75BD9BDD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573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Approval / next 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FE69F-9BCB-4BCC-8533-6D3EB63D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B5431-CC0B-4EFF-9968-6F37B218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982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Allocation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F5017-F143-42B2-8042-6BC4491D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09825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0B38E-48C3-43CB-BB53-1D61A379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098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Coverage / claim integrity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59C05-CE8B-4B9C-B7CA-5E758AED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98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Risk condition or exclusion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610D7-9E1B-4115-B220-9722BD55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C1526-CDED-4F9F-A0E2-915AF23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Delay remedy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F7CD2-CAA8-4E04-AD81-517DD2E5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099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BA67D-82AD-4A82-82EB-B75759C0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09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Bridge cost / start certainty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9E8A4-BB14-46DB-89FC-96F55301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Commercial + risk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B7A88-F1E9-4C91-93D0-7D600ED5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0D9F1-CD2A-4CBC-BDD8-1BC0F80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Certificate replacement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5E61E-C893-485A-A960-AB4DB5F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09975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77F50-38D0-4615-BEC2-6CE70BBC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099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RE100 claim validity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D698B-B3DA-41D4-8D17-3908763E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997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Policy + legal + risk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EFA05-612E-42BF-AE8D-7A1E5714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CF7A0-43BB-4D82-90E1-091C68C3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Price cap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A82597-4256-44A2-94BC-7920BE36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100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08CEC-5AAA-4D2A-8586-980E39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100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Budget volatility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E448B-C980-41FC-82E6-D9792C69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00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Budget authority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D19BB3-BD58-4A38-B5C6-E5676E20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Priority is not the same as sequence: resolve the items that control authority and value first.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9F64D-879F-41F9-8AD2-D2D8FCA0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decision draft | Positions are demo only</a:t>
            </a:r>
          </a:p>
        </p:txBody>
      </p:sp>
    </p:spTree>
    <p:extLst>
      <p:ext uri="{BB962C8B-B14F-4D97-AF65-F5344CB8AC3E}">
        <p14:creationId xmlns:p14="http://schemas.microsoft.com/office/powerpoint/2010/main" val="2124947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72FB6-6932-47FC-9129-FF0D0935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Three bounded scenarios expose cost, timing and risk trade-offs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639C6-978D-4EF7-830E-3780BFE0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SCENARIO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32083-2180-467A-94A6-C027AE6B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D8859-2E8C-4EFB-B862-835E82EA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022ED-47D4-4BCD-81BB-4D882752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49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154B9-3C32-4807-9354-81C9CBA6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71989-B316-4A83-8D5A-DC4A000B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PREFERRED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1A02D-6E4E-4EB7-86B0-CB0990F8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11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Target terms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No unresolved pass-through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Evidence conditions closed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Value: calculate with client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CC855-2CA8-4DA6-9EDA-9222E20E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790700"/>
            <a:ext cx="349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06922-FE37-4B62-93C4-20E62AD7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79070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93ADB-FCE7-45BD-B6B9-18A57094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05740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COUNTER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EE1B4-1B35-4E27-AE9D-1556BA46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724150"/>
            <a:ext cx="311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Limited bounded movement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Explicit give / get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Cap, remedy and evidence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Authority expires by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9022B-492B-4393-A560-CCDB6192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790700"/>
            <a:ext cx="349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CB78E-EBBB-4D4F-BD0E-CAC8359D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79070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279F5-5926-4B61-9522-602BDB16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05740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AE083-BDF1-4878-B48D-0A70EE77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724150"/>
            <a:ext cx="311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Retain alternate / bridge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Known trigger and validity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Avoid forced acceptance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Cost and gap quantified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30713-3900-4136-8981-D95DF41C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Workbook values are synthetic. The decision is the acceptable boundary, not the demo number.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42A7A-1DF4-4C0E-AB4E-2E0CD329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decision draft | Economics require Finance validation</a:t>
            </a:r>
          </a:p>
        </p:txBody>
      </p:sp>
    </p:spTree>
    <p:extLst>
      <p:ext uri="{BB962C8B-B14F-4D97-AF65-F5344CB8AC3E}">
        <p14:creationId xmlns:p14="http://schemas.microsoft.com/office/powerpoint/2010/main" val="944223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BB905-4F54-4587-BAE0-9BC17E0E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Residual risk acceptance must name the accountable approver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32A77-9AAF-4265-8279-2A513944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RISK ACCEPTANCE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D475A-D5D9-4255-9E8A-2E72F73C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96467-D64C-4668-B425-A0118C1A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046D9-BC37-4FB9-94A6-A399041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D98D1-FEF4-4B09-90FF-511FDCEB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5BBAC-204E-4AEA-9D22-395CAA93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D5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0B4FC-3F66-4668-99E6-BCDE45B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65F9F-9A47-47A8-A0E1-AF87FDBF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Never imply acceptance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70F87-F022-4B88-A5C9-A868E9D2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Required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A7564-9E65-4AAF-8E6B-6C76C9F5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46863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Unverified allocation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Unremedied delay exposure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Invalid / late certificate risk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Unbounded index or pass-through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Missing document /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6AF02-6F5C-489A-BC6E-A6A5D9F7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6863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Risk event and evidence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Likelihood / impact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Mitigation or condition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Named risk acceptor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Authority evidence +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0BB20-F47B-42A9-A063-178B0F31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Silence, meeting attendance or a model score is not risk acceptance.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25AF1-B3DC-4758-A0EA-EA95A11A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decision draft | Legal advice remains separate</a:t>
            </a:r>
          </a:p>
        </p:txBody>
      </p:sp>
    </p:spTree>
    <p:extLst>
      <p:ext uri="{BB962C8B-B14F-4D97-AF65-F5344CB8AC3E}">
        <p14:creationId xmlns:p14="http://schemas.microsoft.com/office/powerpoint/2010/main" val="584162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3B691-BEFC-40F1-9AAD-E48C7A5F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Advance only with explicit conditions and a signing-readiness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04F87-0D52-4F20-BAE9-6F9DE55B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B1A97-A4CB-4F5E-9B74-3AFE992A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6117C-63DF-446F-BA59-26B55247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AF3B2-D6ED-4618-A96B-6E1A41C0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DBFDB-65DA-49FC-903B-F108D8E2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08005-ACEC-4E62-AC49-14059693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B500D-5DE8-4D36-9713-C982569C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73BF6-B03B-4EA8-98E1-7641AE66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Conditional recommendation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C70A4-0661-4B11-9042-B3D652BB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Before G10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BC09E-7461-485C-B673-4913688C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46863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Continue / counter — demo only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Keep fallback live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Close high evidence gaps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Bound concessions and expiry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Preserve non-binding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F4E2D-DB8A-450F-BFFF-1D495122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6863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Final document set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Approval and signer authority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Commercial issue closure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CP / obligation owners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System, data and BAU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488B2-B033-4397-A240-5D712417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Possible outcomes: ACCEPT · COUNTER · CONTINUE · FALLBACK · PAUSE · STOP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96C3E-4D1D-49DD-9AF3-9F78DEF1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decision draft | Client decision body TBD</a:t>
            </a:r>
          </a:p>
        </p:txBody>
      </p:sp>
    </p:spTree>
    <p:extLst>
      <p:ext uri="{BB962C8B-B14F-4D97-AF65-F5344CB8AC3E}">
        <p14:creationId xmlns:p14="http://schemas.microsoft.com/office/powerpoint/2010/main" val="993721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807781-DEF8-4FAF-B960-B8D7875E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Close with one authorized message, owners and expiry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D1351-D61B-40BA-B066-5810C473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1AA6A-D786-4C15-85D5-9A2B9B6B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92198-BDE6-4218-848B-E357E5E0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A13BC-73FD-4420-B8D1-803A19B4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29820-6B59-4FE8-A4D8-75EDB015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3832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Record 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EF36F-C1DA-47F7-9D9E-3A271356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38325"/>
            <a:ext cx="499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Required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4A97C-6B54-423D-8CF8-F2918737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383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Accountability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DB8B-4171-4133-B297-040CE90F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241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07854-58E4-444A-A4B4-E837CB86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907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D2BC4-10E7-46BF-A192-5BA25648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90775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Accept / counter / continue / fallback / pause /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DC737-B78D-441D-B817-CC9CCB4F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907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Authorized body — TBD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ACCE9-3894-4DE0-B4B7-D0965737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A8EB5-12B6-4010-83D2-F9D30461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908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External 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4E0C8-D779-40F0-B150-DB1A2369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9908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Exact approved position and non-binding caveat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DD15D-906E-4C43-B44E-4D65D00B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908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Negotiation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F3368-8F8C-4B60-BAC2-6AE4F9CC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B2293-FE05-4061-93DF-34F688A2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909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Conditions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C8C43-B1F6-4F68-B931-D14C3B79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90925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Evidence, clauses, approvals and CPs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5806B-8BD0-42CC-A12F-E5C5545F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9092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Named issue owners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41988-437D-477E-9F38-9D8D2CF7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24325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3E1DF-4A04-45C1-A288-0512928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910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Expiry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B22231-AF74-4648-B386-6793482C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1910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Offer, mandate and fallback validity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B4EDA-CFFA-440B-9D9F-C7F4E3E5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910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Project Lead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47D75-2077-47CC-9074-72688F55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244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8A73E-1607-49D9-8BA9-BBA3D55D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7910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Next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D7BFF9-0E99-4494-9886-BAF0EDF9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91075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G10 signing readiness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7C9744-9941-4FAD-BCED-C4D6099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910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Legal / Procurement / Implementation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C0641D-99ED-4241-B951-6AAC636D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Update the decision log, position tracker, issue tracker and controlled document set within 48 hours.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D7EFD-FF92-412D-BA75-E6C1AF36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Internal decision draft | Decision/date remain TBD WITH CLIENT</a:t>
            </a:r>
          </a:p>
        </p:txBody>
      </p:sp>
    </p:spTree>
    <p:extLst>
      <p:ext uri="{BB962C8B-B14F-4D97-AF65-F5344CB8AC3E}">
        <p14:creationId xmlns:p14="http://schemas.microsoft.com/office/powerpoint/2010/main" val="1536981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2026-09-27T05:56:22.3510000Z</dcterms:created>
  <dcterms:modified xsi:type="dcterms:W3CDTF">2026-09-27T05:56:22.3520000Z</dcterms:modified>
</coreProperties>
</file>