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4fc96ae72346d6" /><Relationship Type="http://schemas.openxmlformats.org/officeDocument/2006/relationships/extended-properties" Target="/docProps/app.xml" Id="R12e41f5ca8214018" /><Relationship Type="http://schemas.openxmlformats.org/officeDocument/2006/relationships/officeDocument" Target="/ppt/presentation.xml" Id="R47f770dcaa9045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d2c5ad64aa412b"/>
  </p:sldMasterIdLst>
  <p:notesMasterIdLst>
    <p:notesMasterId xmlns:r="http://schemas.openxmlformats.org/officeDocument/2006/relationships" r:id="R878c6cc8909d49ca"/>
  </p:notesMasterIdLst>
  <p:sldIdLst>
    <p:sldId xmlns:r="http://schemas.openxmlformats.org/officeDocument/2006/relationships" id="256" r:id="Rd060c16753ef4adc"/>
    <p:sldId xmlns:r="http://schemas.openxmlformats.org/officeDocument/2006/relationships" id="257" r:id="R584c1504651d4bd3"/>
    <p:sldId xmlns:r="http://schemas.openxmlformats.org/officeDocument/2006/relationships" id="258" r:id="Re20c42277a2942a3"/>
    <p:sldId xmlns:r="http://schemas.openxmlformats.org/officeDocument/2006/relationships" id="259" r:id="Rc117466bef684758"/>
    <p:sldId xmlns:r="http://schemas.openxmlformats.org/officeDocument/2006/relationships" id="260" r:id="R1e85b382fc344698"/>
    <p:sldId xmlns:r="http://schemas.openxmlformats.org/officeDocument/2006/relationships" id="261" r:id="R7d6ab962de6446ea"/>
    <p:sldId xmlns:r="http://schemas.openxmlformats.org/officeDocument/2006/relationships" id="262" r:id="R32784e8e6744407d"/>
    <p:sldId xmlns:r="http://schemas.openxmlformats.org/officeDocument/2006/relationships" id="263" r:id="Rbd282483334e43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44f6de24834430" /><Relationship Type="http://schemas.openxmlformats.org/officeDocument/2006/relationships/slideMaster" Target="/ppt/slideMasters/slideMaster1.xml" Id="Rb2d2c5ad64aa412b" /><Relationship Type="http://schemas.openxmlformats.org/officeDocument/2006/relationships/notesMaster" Target="/ppt/notesMasters/notesMaster1.xml" Id="R878c6cc8909d49ca" /><Relationship Type="http://schemas.openxmlformats.org/officeDocument/2006/relationships/presProps" Target="/ppt/presProps.xml" Id="Rf54f94cf91904481" /><Relationship Type="http://schemas.openxmlformats.org/officeDocument/2006/relationships/tableStyles" Target="/ppt/tableStyles.xml" Id="R2f4af39354164cfb" /><Relationship Type="http://schemas.openxmlformats.org/officeDocument/2006/relationships/slide" Target="/ppt/slides/slide1.xml" Id="Rd060c16753ef4adc" /><Relationship Type="http://schemas.openxmlformats.org/officeDocument/2006/relationships/slide" Target="/ppt/slides/slide2.xml" Id="R584c1504651d4bd3" /><Relationship Type="http://schemas.openxmlformats.org/officeDocument/2006/relationships/slide" Target="/ppt/slides/slide3.xml" Id="Re20c42277a2942a3" /><Relationship Type="http://schemas.openxmlformats.org/officeDocument/2006/relationships/slide" Target="/ppt/slides/slide4.xml" Id="Rc117466bef684758" /><Relationship Type="http://schemas.openxmlformats.org/officeDocument/2006/relationships/slide" Target="/ppt/slides/slide5.xml" Id="R1e85b382fc344698" /><Relationship Type="http://schemas.openxmlformats.org/officeDocument/2006/relationships/slide" Target="/ppt/slides/slide6.xml" Id="R7d6ab962de6446ea" /><Relationship Type="http://schemas.openxmlformats.org/officeDocument/2006/relationships/slide" Target="/ppt/slides/slide7.xml" Id="R32784e8e6744407d" /><Relationship Type="http://schemas.openxmlformats.org/officeDocument/2006/relationships/slide" Target="/ppt/slides/slide8.xml" Id="Rbd282483334e43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e0d18f403149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31413969e941cc" /><Relationship Type="http://schemas.openxmlformats.org/officeDocument/2006/relationships/notesMaster" Target="/ppt/notesMasters/notesMaster1.xml" Id="R5cd116c1f12042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64b12bff03408e" /><Relationship Type="http://schemas.openxmlformats.org/officeDocument/2006/relationships/notesMaster" Target="/ppt/notesMasters/notesMaster1.xml" Id="R0c3513aa22844d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c70b1692834222" /><Relationship Type="http://schemas.openxmlformats.org/officeDocument/2006/relationships/notesMaster" Target="/ppt/notesMasters/notesMaster1.xml" Id="R117120dd23ed41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504f91032149af" /><Relationship Type="http://schemas.openxmlformats.org/officeDocument/2006/relationships/notesMaster" Target="/ppt/notesMasters/notesMaster1.xml" Id="R25a1fb1d74b948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ab8bbe4f4340dc" /><Relationship Type="http://schemas.openxmlformats.org/officeDocument/2006/relationships/notesMaster" Target="/ppt/notesMasters/notesMaster1.xml" Id="Rec713c31f1ab42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470b0bebd64bbd" /><Relationship Type="http://schemas.openxmlformats.org/officeDocument/2006/relationships/notesMaster" Target="/ppt/notesMasters/notesMaster1.xml" Id="R49012b6d75c548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7a59379a2c4f87" /><Relationship Type="http://schemas.openxmlformats.org/officeDocument/2006/relationships/notesMaster" Target="/ppt/notesMasters/notesMaster1.xml" Id="Re5d5055b257644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bce90edbeb4edb" /><Relationship Type="http://schemas.openxmlformats.org/officeDocument/2006/relationships/notesMaster" Target="/ppt/notesMasters/notesMaster1.xml" Id="R412b2265dfac49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align objectives, decisions, roles, working rhythm and immediate launch actions. No AMAT-specific facts are assumed.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Discussion: What are the three to five decisions AMAT most needs this project to enable?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Discussion: Which gates require Taiwan, regional or global approval? Gate names are methodology hypotheses until validated.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Discussion: Who is accountable, who must be consulted, and who only needs to be informed for each decision?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Discussion: What review turnaround and urgent escalation route can AMAT support?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Discussion: Which dates or constraints should change the proposed sequence?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Discussion: Which assumption must be corrected immediately? Unknown does not mean unmanaged.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naming owner and date for every item not approved today. Within 48 hours, update charter, decision log, questions, schedule, and launch packs.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d73d8adb7344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5e085117424e18" /><Relationship Type="http://schemas.openxmlformats.org/officeDocument/2006/relationships/slideLayout" Target="/ppt/slideLayouts/slideLayout1.xml" Id="Rcf62bcc5f2544e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62bcc5f2544e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1911ffd2248e1" /><Relationship Type="http://schemas.openxmlformats.org/officeDocument/2006/relationships/notesSlide" Target="/ppt/notesSlides/notesSlide1.xml" Id="R3bbe584ecb6148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fa589f42d4d2e" /><Relationship Type="http://schemas.openxmlformats.org/officeDocument/2006/relationships/notesSlide" Target="/ppt/notesSlides/notesSlide2.xml" Id="R2b9c2c79c94447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ae16d0ddb4cbc" /><Relationship Type="http://schemas.openxmlformats.org/officeDocument/2006/relationships/notesSlide" Target="/ppt/notesSlides/notesSlide3.xml" Id="Re047e26067344d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2695ff17c4f86" /><Relationship Type="http://schemas.openxmlformats.org/officeDocument/2006/relationships/notesSlide" Target="/ppt/notesSlides/notesSlide4.xml" Id="R4b28213a549a4c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922e75da84cfa" /><Relationship Type="http://schemas.openxmlformats.org/officeDocument/2006/relationships/notesSlide" Target="/ppt/notesSlides/notesSlide5.xml" Id="R8af61e25ab814c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30f8f4e6c4239" /><Relationship Type="http://schemas.openxmlformats.org/officeDocument/2006/relationships/notesSlide" Target="/ppt/notesSlides/notesSlide6.xml" Id="R79e49345303f4b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42d011fb2441c" /><Relationship Type="http://schemas.openxmlformats.org/officeDocument/2006/relationships/notesSlide" Target="/ppt/notesSlides/notesSlide7.xml" Id="R2a6005dafbe142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8696015ac4df3" /><Relationship Type="http://schemas.openxmlformats.org/officeDocument/2006/relationships/notesSlide" Target="/ppt/notesSlides/notesSlide8.xml" Id="R20fc4400bb9a45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8C1F42-19F7-47BD-ABB9-04E75074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805D5-254A-4EA4-A72D-686EEA56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797AF-801D-47FE-8E48-3444057A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7D0C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87D0CE"/>
                </a:solidFill>
                <a:latin typeface="Microsoft JhengHei"/>
                <a:ea typeface="Microsoft JhengHei"/>
                <a:cs typeface="Microsoft JhengHei"/>
              </a:rPr>
              <a:t>OPTIMUM / AMAT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93A38-5E58-41D7-B0C6-C4D80A30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715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 shared decision system will move the project from requirements to execution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29622-A1A1-4930-A6E6-81AD0A3C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5E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D9E5EE"/>
                </a:solidFill>
                <a:latin typeface="Microsoft JhengHei"/>
                <a:ea typeface="Microsoft JhengHei"/>
                <a:cs typeface="Microsoft JhengHei"/>
              </a:rPr>
              <a:t>AMAT Taiwan Renewable Electricity Advisory | Kickoff discussion draft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9C223-4C92-4B0E-BA69-8D0E05E4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0233B-F43D-4913-934B-512EE0BB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DEFINE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4A0D0F-4855-4807-81AF-9AEDAE35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4767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27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6AB99-9C79-4276-BC09-7BEB127E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291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EVALUATE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F617E5-9A35-43B4-9CC5-47BB1222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4767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2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6F7406-7D37-40DD-91E5-AFA48A55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291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NEGOTIATE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AE6B12-6195-4DF7-8A22-CE0A7BC8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4767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27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2206C-AC74-49DF-A392-11670393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291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EXECUTE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4C741-B668-48D1-9C25-DAC54AA9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CA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B9CAD8"/>
                </a:solidFill>
                <a:latin typeface="Microsoft JhengHei"/>
                <a:ea typeface="Microsoft JhengHei"/>
                <a:cs typeface="Microsoft JhengHei"/>
              </a:rPr>
              <a:t>PRE-KICKOFF DRAFT · 2026-09-27</a:t>
            </a:r>
          </a:p>
        </p:txBody>
      </p:sp>
    </p:spTree>
    <p:extLst>
      <p:ext uri="{BB962C8B-B14F-4D97-AF65-F5344CB8AC3E}">
        <p14:creationId xmlns:p14="http://schemas.microsoft.com/office/powerpoint/2010/main" val="12948209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6D2DBD-4B96-4657-A1D0-2F06F2D9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We will define success through the decisions AMAT must make, not through document volume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9F5CA-601B-43E8-B058-0C8DBA84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12D23E-D6A2-4057-AFEF-08E8E253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F700A-4E28-4F96-A6E3-1923127E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00D38A-2242-44D4-8ADA-B77ECDD8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58603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BD940-4A8E-4D8A-B6EF-34CD6848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58603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7B06C-91B3-4824-9086-0104287D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220503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Requirements / portfolio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9D75D-A8E8-477F-9721-D1B7E506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2243138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27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Agree boundary and residual gap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27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Choose scenarios to pursue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EB563-00D5-47BE-BFBD-64CB91CF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1809750"/>
            <a:ext cx="258603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B88037-EC26-41AE-9D1B-29010824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1809750"/>
            <a:ext cx="258603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B9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2653E5-9420-468B-9873-5485A0D1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095500"/>
            <a:ext cx="220503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Market / shortlist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490F98-2BD2-4748-814C-51098DF7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800350"/>
            <a:ext cx="2243138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27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Authorize disclosure and engagement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27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Select credible counterparties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931EF7-E1D9-4CEF-B2C1-245615F5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809750"/>
            <a:ext cx="258603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9351CF-B4E7-4EA8-B7C3-0D7B9AE1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809750"/>
            <a:ext cx="258603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0BA94E-21E3-4A9C-ACEA-C6AD0068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95500"/>
            <a:ext cx="220503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Commercial / contract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77086A-50CF-45B9-90C4-89C47A8D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800350"/>
            <a:ext cx="2243138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27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Set mandate and risk position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27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Resolve terms with legal advice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16F30E-261E-4F83-8E09-EBC71197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1809750"/>
            <a:ext cx="258603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D88C48-AB25-4029-880B-7325C9F5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1809750"/>
            <a:ext cx="258603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56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775BB6-E8E2-4B1B-9E09-870E5833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095500"/>
            <a:ext cx="220503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Go-live / BAU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6F6116-1FDC-4D9E-91B6-F3C99CFA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2800350"/>
            <a:ext cx="2243138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27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Confirm readiness and ownership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27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Track delivery and certificates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3594D8-4B8C-4DE6-B5B4-74B7665B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Success evidence: a named decision owner, traceable inputs, comparable options, explicit risk acceptance and a complete handoff at every gate.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D3333E-7999-4EDB-AED1-11FA3AE2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Discussion draft | PRE-KICKOFF | AMAT-specific facts TBD</a:t>
            </a:r>
          </a:p>
        </p:txBody>
      </p:sp>
    </p:spTree>
    <p:extLst>
      <p:ext uri="{BB962C8B-B14F-4D97-AF65-F5344CB8AC3E}">
        <p14:creationId xmlns:p14="http://schemas.microsoft.com/office/powerpoint/2010/main" val="5455247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D04339-9E5D-42B8-BC65-79784335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Ten gates keep analysis from outrunning authority or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6457A4-49DA-4151-BC76-4DB4EE1F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DELIVERY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1F9967-D281-4C4F-97DC-D8B2E583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612396-8B50-4C50-AA3D-59840503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90DB0-CA01-4E84-A555-E128DD9D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0"/>
            <a:ext cx="9906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6E593-A4B1-4C01-8A5E-FBCDEDDC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57450"/>
            <a:ext cx="876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G0</a:t>
            </a:r>
          </a:p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Kickoff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2D501-95E4-498F-B38C-88F86564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743200"/>
            <a:ext cx="142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C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9D96B-387D-4407-817F-9024E846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86000"/>
            <a:ext cx="9906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A21FCC-1595-4EB5-A7EC-0A84ADEC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57450"/>
            <a:ext cx="876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G1</a:t>
            </a:r>
          </a:p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Requirements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01A2A9-3B49-40B9-BC5A-8C5F1702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43200"/>
            <a:ext cx="142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CE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2DC671-3AC2-4A69-B5C3-A78C5534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286000"/>
            <a:ext cx="9906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217204-5EBB-42B0-98CD-C99CE4C0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457450"/>
            <a:ext cx="876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G2</a:t>
            </a:r>
          </a:p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Portfolio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C206CD-2632-4915-8C6B-801D9298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743200"/>
            <a:ext cx="142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CE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2FEDB3-3FBB-4AC7-A6A2-A9CCECA7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86000"/>
            <a:ext cx="9906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B9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605696-6E42-4E8F-A0E0-EB903A4E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457450"/>
            <a:ext cx="876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G3</a:t>
            </a:r>
          </a:p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Market launch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97477E-C712-4593-A852-A26CE539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43200"/>
            <a:ext cx="142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CE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149393-5342-4B72-8E33-22D57149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286000"/>
            <a:ext cx="9906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B9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3AE981-300C-493B-9710-6C2E84AA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457450"/>
            <a:ext cx="876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G4</a:t>
            </a:r>
          </a:p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RFQ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5E6C10-94D6-47C6-9F56-A80C99E6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43200"/>
            <a:ext cx="142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CE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0200CD-9D65-4B19-9A9C-D7EC77E3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9906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B9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02BDE9-BAF2-4C63-AE4C-6AC481CA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57450"/>
            <a:ext cx="876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G5</a:t>
            </a:r>
          </a:p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Shortlist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9DC871-58BE-4A26-9354-B4E513B2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43200"/>
            <a:ext cx="142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CE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C49E60-17E9-4F69-94C3-3B82C915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286000"/>
            <a:ext cx="9906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84253E-69B0-4178-93C7-71818727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57450"/>
            <a:ext cx="876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G6</a:t>
            </a:r>
          </a:p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Mandate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9F9F3A-8CC9-4686-88E1-2881B3FA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743200"/>
            <a:ext cx="142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CE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D997C9-9E34-4DBC-8817-EC8AD2AF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86000"/>
            <a:ext cx="9906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EB3AD8-2DE6-4687-AE85-BE065D13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57450"/>
            <a:ext cx="876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G7</a:t>
            </a:r>
          </a:p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Select / Sign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699175-6B2A-4841-A041-E7008B28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43200"/>
            <a:ext cx="142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CE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B14731-F448-4F11-9F7C-F67950BC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286000"/>
            <a:ext cx="9906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B978AC-6E46-4054-9116-14601343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457450"/>
            <a:ext cx="876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G8</a:t>
            </a:r>
          </a:p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Go-live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5EB624-CB1A-4F6D-897D-1EE28EC9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2743200"/>
            <a:ext cx="142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CE5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8243BF-B2B7-4DA7-8A58-99EA2C62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286000"/>
            <a:ext cx="9906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2C72BA-CCD9-4FBE-9CE4-D7DD5C47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457450"/>
            <a:ext cx="876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G9</a:t>
            </a:r>
          </a:p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Performance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5A53DC-ABA3-402F-A541-BB0102B1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1.x DEFINE / ALIGN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72642C-6078-4C15-8E53-C46C8E13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1475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B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56B9D"/>
                </a:solidFill>
                <a:latin typeface="Microsoft JhengHei"/>
                <a:ea typeface="Microsoft JhengHei"/>
                <a:cs typeface="Microsoft JhengHei"/>
              </a:rPr>
              <a:t>2.x MARKET / EVALUATE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7443DF-0A68-4690-9D4E-0E43E472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714750"/>
            <a:ext cx="449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3.x NEGOTIATE / EXECUTE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8B21FB-2F9F-4F61-BECC-274D8BBE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Every gate needs: decision requested · evidence · open assumptions · approver · conditions · handoff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66748C-F097-4728-9B8C-1CEA1440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Discussion draft | PRE-KICKOFF | AMAT-specific facts TBD</a:t>
            </a:r>
          </a:p>
        </p:txBody>
      </p:sp>
    </p:spTree>
    <p:extLst>
      <p:ext uri="{BB962C8B-B14F-4D97-AF65-F5344CB8AC3E}">
        <p14:creationId xmlns:p14="http://schemas.microsoft.com/office/powerpoint/2010/main" val="594331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C24A26-CE25-4414-8F66-79037015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Cross-functional participation changes by decision; one standing audience is not enough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2F300-6C95-4496-B00D-FB1D1296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STAKEHOLDER HYPOTHESIS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36C85-0ABC-4959-89D0-05DD4004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CA72F-2BBC-43FE-BC5E-EE37187C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2E13CF-59AF-4D98-8D85-4527411A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4A82B-A426-4F93-BDA3-82E45C86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Success /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61B1E-DA90-459B-BBFB-7186F938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790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A1EC3-4B74-46D6-9331-CAB40954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9070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Sponsor · Sustainability · Procurement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28E39C-0136-49C5-B11D-21B66E9A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67A29-17A4-41F8-A3AC-5CDF2BCD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Baseline / 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441B63-AEEB-4160-866E-032EA19B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00300"/>
            <a:ext cx="790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642C66-B5E5-442C-A600-53ACFD72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7650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Facilities · Sustainability · Finance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70304B-F119-45F5-A91C-44FF6338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D68D64-596E-4769-8847-694F7B00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623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Portfolio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ABC4EA-D31E-4F10-B16C-437B6567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86100"/>
            <a:ext cx="790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5EB533-B307-4FB1-854F-F029D8B5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6230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Sponsor · Procurement · Sustainability · Finance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C62147-79FF-4D8C-9C82-12FAB328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F9CF90-459C-40A8-9F4A-64DE03F8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Market / RFQ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2F98C0-0BA3-4283-A042-B5FBF203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71900"/>
            <a:ext cx="790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45E7BF-C1A5-461A-BFF9-BEAF057F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4810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Procurement · Legal · Optimum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37E881-0C0B-44D4-B578-D0B51CBE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13278A-1EA7-4134-B9CC-FBE0B483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339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Contract / sign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DC68CF-1357-480E-B4BA-1F3D6741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57700"/>
            <a:ext cx="790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B25DA9-53E5-441F-95E0-EE9B9280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3390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Authorized approvers · Procurement · Legal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C78DFC-2B8D-48C7-8397-CD790A41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E5F092-1F95-45B6-BD38-D755ACF0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197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Execution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668F37-C027-4E7D-B371-A0312415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43500"/>
            <a:ext cx="790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2A7B4D-1A2F-4916-AA9F-1920BC78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1970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Facilities · Sustainability · Procurement · BAU owners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8CA39E-D421-428F-99CC-C271AE73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817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rPr>
              <a:t>HYPOTHESIS — named people, authority limits and required consultation must be confirmed at G0 / G1.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941B95-AB94-4C75-8A00-CDD799C2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Discussion draft | PRE-KICKOFF | AMAT-specific facts TBD</a:t>
            </a:r>
          </a:p>
        </p:txBody>
      </p:sp>
    </p:spTree>
    <p:extLst>
      <p:ext uri="{BB962C8B-B14F-4D97-AF65-F5344CB8AC3E}">
        <p14:creationId xmlns:p14="http://schemas.microsoft.com/office/powerpoint/2010/main" val="6286210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FB0FCD-2203-467C-8564-7C0264F6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Define → MVP → Review → Correct → Expand is the default working rhythm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269E1-66CA-4C85-972D-723B7B66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WAYS OF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2D6EE-733A-44E6-AC87-D1E8469C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6FA21-EF1B-40EE-9C34-AE9F4A37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073EF-2133-492B-B650-D4680885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952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610AD-84C5-44A2-B154-A5A4F129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17240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DEFINE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question + 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AA07F-2DC5-4C0B-A1D8-53A777CC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171700"/>
            <a:ext cx="1952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43B4DA-AAC4-47A1-8D60-A355683E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343150"/>
            <a:ext cx="17240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MVP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smallest reviewable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78F67-C5D6-4157-9BDA-863CF063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71700"/>
            <a:ext cx="1952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E8C15B-C9D5-4003-9927-EACDFEFC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43150"/>
            <a:ext cx="17240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REVIEW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client lens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151CAF-5122-428D-8F6E-439179E4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171700"/>
            <a:ext cx="1952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C02784-59E3-49DB-8AE1-2FA3E6F3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343150"/>
            <a:ext cx="17240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CORRECT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method / assumptions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B7B148-EEFD-4BEF-BEA4-139BD76E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71700"/>
            <a:ext cx="1952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0B3F02-F07B-4C75-8DA9-99D6727C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43150"/>
            <a:ext cx="17240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EXPAND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only after alignment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B49593-CFB3-4847-A866-48BA9622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457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963FBE-5F5C-4C0B-A938-35F44FCD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43375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Working review</a:t>
            </a:r>
          </a:p>
          <a:p xmlns:a="http://schemas.openxmlformats.org/drawingml/2006/main">
            <a:pPr algn="ctr">
              <a:def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Biweekly starting hypothesis</a:t>
            </a:r>
          </a:p>
          <a:p xmlns:a="http://schemas.openxmlformats.org/drawingml/2006/main">
            <a:pPr algn="ctr">
              <a:def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Resolve data, assumptions and design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13EDF3-EE39-492D-A11D-3631B68B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57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374CBA-6832-40F2-B6B1-CFA3E7AD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143375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Steering / gate review</a:t>
            </a:r>
          </a:p>
          <a:p xmlns:a="http://schemas.openxmlformats.org/drawingml/2006/main">
            <a:pPr algn="ctr">
              <a:def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Monthly or at gate starting hypothesis</a:t>
            </a:r>
          </a:p>
          <a:p xmlns:a="http://schemas.openxmlformats.org/drawingml/2006/main">
            <a:pPr algn="ctr">
              <a:def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Approve, condition, defer or stop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427904-649B-4DC5-9BCE-1870A050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292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rPr>
              <a:t>Silence is not approval: any deferred decision must retain an owner, missing evidence and latest-needed date.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68B64C-474E-4F15-8D5A-03B94288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Discussion draft | PRE-KICKOFF | AMAT-specific facts TBD</a:t>
            </a:r>
          </a:p>
        </p:txBody>
      </p:sp>
    </p:spTree>
    <p:extLst>
      <p:ext uri="{BB962C8B-B14F-4D97-AF65-F5344CB8AC3E}">
        <p14:creationId xmlns:p14="http://schemas.microsoft.com/office/powerpoint/2010/main" val="14978839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A288D2-889B-438B-950A-6A70EB97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The first four weeks should lock governance, data ownership, market understanding and the gap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CB850-4967-475F-847C-37E26317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INITIAL WORKPLAN — TIMING TBD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DDDD89-ED38-428E-A81A-6F74B0BC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3D823-010A-48C0-BDAC-BB4C1AF9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5D784-E3D9-433A-A2FA-E2F6F425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W0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E71E72-2930-4E1D-B5FD-C8DA22CF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2000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7D652-EF6A-44F1-B67A-46758026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Kickoff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12E422-2D25-40AD-AB3D-0B2F63FC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Client objective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2A88C4-140D-4350-A02C-C55F56F1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1657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Charter + owners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5400DA-7C92-4CF5-8AAB-82D0D1DF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43375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B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B9D"/>
                </a:solidFill>
                <a:latin typeface="Microsoft JhengHei"/>
                <a:ea typeface="Microsoft JhengHei"/>
                <a:cs typeface="Microsoft JhengHei"/>
              </a:rPr>
              <a:t>G0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5158D9-1E4E-4AF3-A18B-06E09D24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145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W1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898FF8-7BF2-4305-97FB-FC13F704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43125"/>
            <a:ext cx="2000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D4E035-ABB4-4B10-88FC-8DF77561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62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Data / interviews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E71680-2F7C-4D8C-9F92-BB27F8E7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480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Client objective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5B8E7B-2A8D-4E94-8A1C-324D3912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33750"/>
            <a:ext cx="1657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Request + tracker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15906F-011B-4352-AB60-52A89200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43375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B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B9D"/>
                </a:solidFill>
                <a:latin typeface="Microsoft JhengHei"/>
                <a:ea typeface="Microsoft JhengHei"/>
                <a:cs typeface="Microsoft JhengHei"/>
              </a:rPr>
              <a:t>Owners / dates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C267E5-97F8-4FF2-8C4A-001B1107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145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W2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FFA6CA-0F32-44E6-B4E3-2CD3EB93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43125"/>
            <a:ext cx="2000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C2A71D-BF2A-46FB-B63D-5683A8D5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62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Taiwan workshop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7969E1-3757-4961-A283-04D535EF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480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Client objective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D94F20-E08E-49D8-8071-A34BA802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33750"/>
            <a:ext cx="1657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Learning + decisions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C4A525-50A8-4075-ACD3-FE3BE8DE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43375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B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B9D"/>
                </a:solidFill>
                <a:latin typeface="Microsoft JhengHei"/>
                <a:ea typeface="Microsoft JhengHei"/>
                <a:cs typeface="Microsoft JhengHei"/>
              </a:rPr>
              <a:t>Workshop outputs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952C8E-B647-4408-A0F0-7BD0C2CB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145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W3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2BFF2D-F248-4B71-A6D8-AC2B7F37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43125"/>
            <a:ext cx="2000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1AEDBA-09B4-4AB0-A805-E22A0288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62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Gap MVP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DF78D1-1A58-452A-8F57-89F6627D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480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Client objective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BB0134-9ECE-4AFA-B3B8-E99FA37E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33750"/>
            <a:ext cx="1657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Synthetic model + mapping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97EE0C-7EED-4BDC-8D43-47F7D420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43375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B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B9D"/>
                </a:solidFill>
                <a:latin typeface="Microsoft JhengHei"/>
                <a:ea typeface="Microsoft JhengHei"/>
                <a:cs typeface="Microsoft JhengHei"/>
              </a:rPr>
              <a:t>G1 method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BEEE94-2E46-4AE5-BD1A-7BB7E3E9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145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W4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414E1B-01C7-4C05-89A6-5A5E75CB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43125"/>
            <a:ext cx="2000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D962D8-66AF-4808-A380-4A0EC074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62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Portfolio preview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E9E945-4C4C-48A2-8DF3-5EC31424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0480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Client objective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6601B2-44A3-4231-BB10-C5BE05CC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333750"/>
            <a:ext cx="1657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2–3 scenarios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D3B437-4310-4CA4-8516-A0137F94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143375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B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B9D"/>
                </a:solidFill>
                <a:latin typeface="Microsoft JhengHei"/>
                <a:ea typeface="Microsoft JhengHei"/>
                <a:cs typeface="Microsoft JhengHei"/>
              </a:rPr>
              <a:t>Prepare G2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3B9197-5597-45C3-890A-B43EFBC0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8162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rPr>
              <a:t>Actual sequencing depends on fixed dates, data access, stakeholder calendars and agreed scope.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A06B04-3FB2-46F2-B758-F041AB91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Discussion draft | PRE-KICKOFF | AMAT-specific facts TBD</a:t>
            </a:r>
          </a:p>
        </p:txBody>
      </p:sp>
    </p:spTree>
    <p:extLst>
      <p:ext uri="{BB962C8B-B14F-4D97-AF65-F5344CB8AC3E}">
        <p14:creationId xmlns:p14="http://schemas.microsoft.com/office/powerpoint/2010/main" val="2410526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A1E0C2-D973-4171-866C-67901A1A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Early visibility of unknowns is a control, not a weakness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EAEC1-B3D4-4A7F-B0BF-BFB79B11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ASSUMPTIONS AND RISKS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718170-E040-4F60-9982-265C9E5C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40CC2D-8EA8-479E-9046-E1FDA022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74000-44CF-455A-A00D-C524989C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1066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09E034-180D-4A3F-83E5-0838E189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Issue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006E8F-384B-4184-9BAC-FF98C098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668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0DB0EA-E1C7-4844-A6A5-EB3FDAB2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6D8B50-96B1-47B0-81FA-AF81E392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61BE23-EA13-4350-8309-1269751F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0275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Success / 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320384-5281-443D-84E2-37328626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rPr>
              <a:t>TBD WITH CLIENT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1AD410-C14E-4760-8B24-BFB7B9EC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0275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Decision-led expectation questions + SOW 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B77430-9B5B-4CBC-AFCC-944105B8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60EF1A-73C9-452D-9802-2F16C85D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90825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Site / target boundary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D89663-13DC-424D-93EA-4E3B63BE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790825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rPr>
              <a:t>TBD WITH CLIENT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6642F1-491F-42EB-8873-9914471E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90825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G1 definition + data dictionary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855937-0321-462B-B40E-30E23A97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CDA45B-9FC0-45B1-9FEE-6BC49920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81375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Stakeholders / authority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E40E12-C48B-484D-8966-C55CAA77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381375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59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D59B32"/>
                </a:solidFill>
                <a:latin typeface="Microsoft JhengHei"/>
                <a:ea typeface="Microsoft JhengHei"/>
                <a:cs typeface="Microsoft JhengHei"/>
              </a:rPr>
              <a:t>HYPOTHESIS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7AEAE4-63CA-4DDC-A6DA-20D504EF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81375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RACI validation + named approvers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934D5A-93A1-4F04-966B-868FFD99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0516BC-16D3-427C-8A41-C424DD6B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71925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Market disclosure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9CBBD5-9A4C-4644-92F9-D881936A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971925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rPr>
              <a:t>TBD WITH CLIENT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D41368-C01A-4BAC-BD89-B1C6A115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71925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Authorization record before 2.2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E0FCF4-7C39-4EB5-A2B9-83442BFA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13E05D-801A-4EDE-9FD9-85C1B363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62475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Data completeness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376089-0332-451E-B660-7870D706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562475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rPr>
              <a:t>UNKNOWN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AD9B50-01BE-48C5-86AD-C4311282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62475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Quality flags + range / sensitivity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7FFA4A-D8FC-4A4C-B15B-F1A72213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D8A525-7C58-42CD-B941-F7187A1D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53025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Legal / procurement process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507B72-C8CB-423D-A98E-FACA21B3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153025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rPr>
              <a:t>TBD WITH CLIENT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2931E0-89EF-4DBC-B2F7-1B5DD4AC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53025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Client counsel / procurement ownership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45EA68-82B7-4A01-84FB-D7DEE603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Discussion draft | PRE-KICKOFF | AMAT-specific facts TBD</a:t>
            </a:r>
          </a:p>
        </p:txBody>
      </p:sp>
    </p:spTree>
    <p:extLst>
      <p:ext uri="{BB962C8B-B14F-4D97-AF65-F5344CB8AC3E}">
        <p14:creationId xmlns:p14="http://schemas.microsoft.com/office/powerpoint/2010/main" val="4395014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227DCA-7A3A-45E0-B0A2-E93BE036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Today's decisions launch data collection and workshop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871AF-0A3E-4598-9BD7-82FC604F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KICKOFF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79B8A-C96E-464C-97F0-EF658111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419A5-6E41-4634-92E1-787A3884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E5EF5-8AB1-444B-8CFE-9D00E7C4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23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7F768-6BBB-4536-9433-0EF6E8A3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969DF8-9B68-4E40-AF27-F4E0F0B6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31CC3-673A-4DF8-9F92-8C35F22F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819275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Outcome and success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73F11A-CA4C-435F-817E-F0A5E8E4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523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FE86AD-03D5-499B-BB72-85900123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B087B5-F40C-417E-84A9-5B84B543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9E0E0C-6E19-4D90-819A-2C02AD9E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14625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Scope / non-scope and fixed dates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584FCD-33BD-4355-8368-366C0FF0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523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D75766-EAC8-444B-8EE8-F2EDEF73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F882FC-B648-4ADD-B5F1-10E7BB3C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AA1B82-8996-44AF-B71E-E4F74C5C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09975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Sponsor, owners and decision authority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1F012E-2F29-452A-BA6E-DA668892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523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788F5C-F854-41E3-9B15-D3B60E35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384E07-3B2A-4C41-9B6A-5FCC8E57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1D7B49-951F-4A52-BC0A-92179BF0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05325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Cadence, review SLA and escalation route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D02EBB-385A-44C3-91A3-AAD81CA7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523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0A149F-16A6-4750-8D59-5BC61208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05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419B81-67B5-42D6-9B51-1DD43F1F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859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B4404E-BD69-449C-B587-B98A85CB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19275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Repository, confidentiality and tool rules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3D4E76-29EE-45EA-85E0-DF9C4D68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9850"/>
            <a:ext cx="523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359842-F2C9-42EF-8FCD-14BD1582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003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9CB5AF-85D0-4906-9BDA-2ECB2652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813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3ABE59-39BB-44E7-B0AA-4EE0CDB0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14625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1.2 data owners and first due dates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16A9C2-0F7F-42B4-9AD2-656AF877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05200"/>
            <a:ext cx="523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2A4EF5-FB79-4188-A49D-669B1D34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413C1D-9A4C-49C9-9EBB-88D597F0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2E277D-4693-40DE-ABBA-3C484550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09975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1.3 participants, objectives and workshop timing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406838-13E2-492B-BE7B-C861C8E9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00550"/>
            <a:ext cx="523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7E93A5-4E74-4722-A812-BEB17630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910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AA4FA8-033F-41C9-B988-75DA58FA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720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7FF799-EB2D-46A6-B15A-B4444A4B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05325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Provisional G1 / G2 decision dates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F851AB-226A-45CC-8FEC-9DB7ED6A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72125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Decision options: APPROVE · APPROVE WITH CONDITIONS · DEFER · RE-SCOPE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6A329E-2D9E-4460-B0CA-BDC2D420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Discussion draft | PRE-KICKOFF | AMAT-specific facts TBD</a:t>
            </a:r>
          </a:p>
        </p:txBody>
      </p:sp>
    </p:spTree>
    <p:extLst>
      <p:ext uri="{BB962C8B-B14F-4D97-AF65-F5344CB8AC3E}">
        <p14:creationId xmlns:p14="http://schemas.microsoft.com/office/powerpoint/2010/main" val="14742365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2026-09-27T04:06:56.1310000Z</dcterms:created>
  <dcterms:modified xsi:type="dcterms:W3CDTF">2026-09-27T04:06:56.1310000Z</dcterms:modified>
</coreProperties>
</file>