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8fcd5573fb4118" /><Relationship Type="http://schemas.openxmlformats.org/officeDocument/2006/relationships/extended-properties" Target="/docProps/app.xml" Id="R4fbe9d04aed74ef8" /><Relationship Type="http://schemas.openxmlformats.org/officeDocument/2006/relationships/officeDocument" Target="/ppt/presentation.xml" Id="Rdc1beb79ac5d4e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57d5fa63b84cbb"/>
  </p:sldMasterIdLst>
  <p:notesMasterIdLst>
    <p:notesMasterId xmlns:r="http://schemas.openxmlformats.org/officeDocument/2006/relationships" r:id="R5beb31782258431f"/>
  </p:notesMasterIdLst>
  <p:sldIdLst>
    <p:sldId xmlns:r="http://schemas.openxmlformats.org/officeDocument/2006/relationships" id="256" r:id="R280a9dd1e3fe4dae"/>
    <p:sldId xmlns:r="http://schemas.openxmlformats.org/officeDocument/2006/relationships" id="257" r:id="R52d096350dbe4822"/>
    <p:sldId xmlns:r="http://schemas.openxmlformats.org/officeDocument/2006/relationships" id="258" r:id="Rb3acf7bded9d4b80"/>
    <p:sldId xmlns:r="http://schemas.openxmlformats.org/officeDocument/2006/relationships" id="259" r:id="Rfb3a29fe070c45f6"/>
    <p:sldId xmlns:r="http://schemas.openxmlformats.org/officeDocument/2006/relationships" id="260" r:id="Rae853ae595a84cda"/>
    <p:sldId xmlns:r="http://schemas.openxmlformats.org/officeDocument/2006/relationships" id="261" r:id="R594263911b014514"/>
    <p:sldId xmlns:r="http://schemas.openxmlformats.org/officeDocument/2006/relationships" id="262" r:id="R207f2b2480e14e97"/>
    <p:sldId xmlns:r="http://schemas.openxmlformats.org/officeDocument/2006/relationships" id="263" r:id="Re6c9f22db6014b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48e1b841c84cb0" /><Relationship Type="http://schemas.openxmlformats.org/officeDocument/2006/relationships/slideMaster" Target="/ppt/slideMasters/slideMaster1.xml" Id="R7957d5fa63b84cbb" /><Relationship Type="http://schemas.openxmlformats.org/officeDocument/2006/relationships/notesMaster" Target="/ppt/notesMasters/notesMaster1.xml" Id="R5beb31782258431f" /><Relationship Type="http://schemas.openxmlformats.org/officeDocument/2006/relationships/presProps" Target="/ppt/presProps.xml" Id="R86c2cf9f71fb4d4e" /><Relationship Type="http://schemas.openxmlformats.org/officeDocument/2006/relationships/tableStyles" Target="/ppt/tableStyles.xml" Id="R3b2f2be9453c4f82" /><Relationship Type="http://schemas.openxmlformats.org/officeDocument/2006/relationships/slide" Target="/ppt/slides/slide1.xml" Id="R280a9dd1e3fe4dae" /><Relationship Type="http://schemas.openxmlformats.org/officeDocument/2006/relationships/slide" Target="/ppt/slides/slide2.xml" Id="R52d096350dbe4822" /><Relationship Type="http://schemas.openxmlformats.org/officeDocument/2006/relationships/slide" Target="/ppt/slides/slide3.xml" Id="Rb3acf7bded9d4b80" /><Relationship Type="http://schemas.openxmlformats.org/officeDocument/2006/relationships/slide" Target="/ppt/slides/slide4.xml" Id="Rfb3a29fe070c45f6" /><Relationship Type="http://schemas.openxmlformats.org/officeDocument/2006/relationships/slide" Target="/ppt/slides/slide5.xml" Id="Rae853ae595a84cda" /><Relationship Type="http://schemas.openxmlformats.org/officeDocument/2006/relationships/slide" Target="/ppt/slides/slide6.xml" Id="R594263911b014514" /><Relationship Type="http://schemas.openxmlformats.org/officeDocument/2006/relationships/slide" Target="/ppt/slides/slide7.xml" Id="R207f2b2480e14e97" /><Relationship Type="http://schemas.openxmlformats.org/officeDocument/2006/relationships/slide" Target="/ppt/slides/slide8.xml" Id="Re6c9f22db6014b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425904480540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b5e786f66b497c" /><Relationship Type="http://schemas.openxmlformats.org/officeDocument/2006/relationships/notesMaster" Target="/ppt/notesMasters/notesMaster1.xml" Id="R18f4912491634a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48522b9e944766" /><Relationship Type="http://schemas.openxmlformats.org/officeDocument/2006/relationships/notesMaster" Target="/ppt/notesMasters/notesMaster1.xml" Id="Re1adaa718df844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8883c0c5c94ab9" /><Relationship Type="http://schemas.openxmlformats.org/officeDocument/2006/relationships/notesMaster" Target="/ppt/notesMasters/notesMaster1.xml" Id="R0a65631e81f844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e4789ba38246a9" /><Relationship Type="http://schemas.openxmlformats.org/officeDocument/2006/relationships/notesMaster" Target="/ppt/notesMasters/notesMaster1.xml" Id="Red1be70e3a1944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106902cf8d45eb" /><Relationship Type="http://schemas.openxmlformats.org/officeDocument/2006/relationships/notesMaster" Target="/ppt/notesMasters/notesMaster1.xml" Id="Ra57bdcb05a3544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df2ee4971047ce" /><Relationship Type="http://schemas.openxmlformats.org/officeDocument/2006/relationships/notesMaster" Target="/ppt/notesMasters/notesMaster1.xml" Id="R2aedca22b6fa42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fe3a636a7a4a06" /><Relationship Type="http://schemas.openxmlformats.org/officeDocument/2006/relationships/notesMaster" Target="/ppt/notesMasters/notesMaster1.xml" Id="R6672d61adc8840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50f83fefc041a6" /><Relationship Type="http://schemas.openxmlformats.org/officeDocument/2006/relationships/notesMaster" Target="/ppt/notesMasters/notesMaster1.xml" Id="Ra0573b79336d44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align decision gates, evidence, owners and launch conditions. All AMAT-specific dates, targets, owners and portfolio choices are TBD WITH CLIENT.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Discussion: Which external deadline or internal approval is most likely to control the critical path?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Discussion: Who can approve each gate, and which gates require regional or global participation?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Discussion: Which internal readiness item may control the launch or signing date?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Discussion: What cadence is realistic given AMAT owner availability and approval lead time?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Decision: approve the highest disclosure level currently allowed and record conditions in the decision log.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Decision: approve, approve with conditions, defer with owner/date, or re-scope G5.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Within 48 hours update decisions, actions, assumptions, questions and the master schedule; then launch only the authorized 2.x MVP.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5e7797352940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0bd8dc91dc40ab" /><Relationship Type="http://schemas.openxmlformats.org/officeDocument/2006/relationships/slideLayout" Target="/ppt/slideLayouts/slideLayout1.xml" Id="Ra7e33ae7d06445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e33ae7d06445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20dbb7c2e44bd" /><Relationship Type="http://schemas.openxmlformats.org/officeDocument/2006/relationships/notesSlide" Target="/ppt/notesSlides/notesSlide1.xml" Id="Rcf3cf1d5a9ea4b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86dc837cd47cb" /><Relationship Type="http://schemas.openxmlformats.org/officeDocument/2006/relationships/notesSlide" Target="/ppt/notesSlides/notesSlide2.xml" Id="R69334e12ae5848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0d414d3124a39" /><Relationship Type="http://schemas.openxmlformats.org/officeDocument/2006/relationships/notesSlide" Target="/ppt/notesSlides/notesSlide3.xml" Id="R7cea6c8efe5c42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3af5c52514fc5" /><Relationship Type="http://schemas.openxmlformats.org/officeDocument/2006/relationships/notesSlide" Target="/ppt/notesSlides/notesSlide4.xml" Id="R91fe5a6ea3544c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980dad44c4845" /><Relationship Type="http://schemas.openxmlformats.org/officeDocument/2006/relationships/notesSlide" Target="/ppt/notesSlides/notesSlide5.xml" Id="Rc1a2b3aceff943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e47c7ec164c9c" /><Relationship Type="http://schemas.openxmlformats.org/officeDocument/2006/relationships/notesSlide" Target="/ppt/notesSlides/notesSlide6.xml" Id="R76f4e84ced7547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bc5d3c9a343e5" /><Relationship Type="http://schemas.openxmlformats.org/officeDocument/2006/relationships/notesSlide" Target="/ppt/notesSlides/notesSlide7.xml" Id="Rd6692a14d2e646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ef139d5e64b47" /><Relationship Type="http://schemas.openxmlformats.org/officeDocument/2006/relationships/notesSlide" Target="/ppt/notesSlides/notesSlide8.xml" Id="Rf189fb805ea742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6386A1-B876-4DF0-B7B0-70514501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ED35E-FC1B-49BF-A66E-6A37926D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7D6A0-0471-418D-AF6B-1984C4DF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7D0C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87D0CE"/>
                </a:solidFill>
                <a:latin typeface="Microsoft JhengHei"/>
                <a:ea typeface="Microsoft JhengHei"/>
                <a:cs typeface="Microsoft JhengHei"/>
              </a:rPr>
              <a:t>OPTIMUM / AMAT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2F028-176B-428F-B528-825F3697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715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 gate-based roadmap turns analysis into authorized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CA19E-48FF-44A5-A999-22C88307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5E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D9E5EE"/>
                </a:solidFill>
                <a:latin typeface="Microsoft JhengHei"/>
                <a:ea typeface="Microsoft JhengHei"/>
                <a:cs typeface="Microsoft JhengHei"/>
              </a:rPr>
              <a:t>Cross-functional alignment &amp; RE100 roadmap | discussion draft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B7CC3-25EE-43A6-ACDA-18728FA2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A24C9-4B08-4D31-BDAC-AC16CBE6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ALIGN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AD8F1-1F67-4CEB-BEF5-6A393531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4767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27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3B632-86A4-4F40-8918-0BF45264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291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AUTHORIZE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CA85C-93F7-4E04-8CEA-A61BC3FC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4767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2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4972B-E12C-465D-B20B-A2B922A9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291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D79093-63EB-4A8A-9168-CD97F7D0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4767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2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27F1CC-6894-4B91-A825-3B54C275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291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EXECUTE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9B373A-E71F-4F33-A678-CA95F45D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CA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B9CAD8"/>
                </a:solidFill>
                <a:latin typeface="Microsoft JhengHei"/>
                <a:ea typeface="Microsoft JhengHei"/>
                <a:cs typeface="Microsoft JhengHei"/>
              </a:rPr>
              <a:t>PRE-KICKOFF DRAFT · 2026-09-27</a:t>
            </a:r>
          </a:p>
        </p:txBody>
      </p:sp>
    </p:spTree>
    <p:extLst>
      <p:ext uri="{BB962C8B-B14F-4D97-AF65-F5344CB8AC3E}">
        <p14:creationId xmlns:p14="http://schemas.microsoft.com/office/powerpoint/2010/main" val="7428116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DBA4DA-204A-40BB-A490-0356739A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Three horizons separate immediate decisions from long-term commitments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EFE5F-B118-4FBF-BC1E-A08D1696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ROADMAP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92F99-E212-4067-A347-2DF94636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7FD61-3CD0-47A7-A023-63D0C852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4835B-7532-439E-B3B5-546E4561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49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B0220-536D-433A-951C-802DE68F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492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F51A3-CBDA-4C25-B54B-3E27030A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07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Near term — define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261080-7C1D-4A22-89C1-0F35B8F6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3111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Close boundary and data gaps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Approve criteria and scenarios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Set market disclosure authority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D94AD4-6D75-494B-B092-E314093C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1809750"/>
            <a:ext cx="349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65A125-6098-4DF6-BBDA-1B091BBB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1809750"/>
            <a:ext cx="3492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B9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F2C9EF-AB6F-4932-96D4-4E5C60E8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2076450"/>
            <a:ext cx="307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Medium term — 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9B54C5-31ED-4774-B175-45D9DBD3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2743200"/>
            <a:ext cx="3111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Test availability and conditions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Run comparable RFQ / DD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Approve shortlist and mandate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3786F-C98B-433A-8718-B0034C9B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1809750"/>
            <a:ext cx="349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322EE8-32F7-4B61-9BB8-DD93DDCA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1809750"/>
            <a:ext cx="3492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73D87F-8258-43B6-8A78-90338C0F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076450"/>
            <a:ext cx="307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Long term — execute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90E1B2-B2D1-4B80-9918-E8E62935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2743200"/>
            <a:ext cx="3111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Resolve contract allocation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Confirm signing / implementation readiness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Transition delivery and claims to BAU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F6EE51-CAD6-4F4E-8FE5-B0419628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3400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rPr>
              <a:t>Actual timing and overlap depend on client deadlines, approval lead times and market evidence.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60CE76-98FD-4EF7-A1E8-214E7766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Discussion draft | PRE-KICKOFF | AMAT-specific facts TBD</a:t>
            </a:r>
          </a:p>
        </p:txBody>
      </p:sp>
    </p:spTree>
    <p:extLst>
      <p:ext uri="{BB962C8B-B14F-4D97-AF65-F5344CB8AC3E}">
        <p14:creationId xmlns:p14="http://schemas.microsoft.com/office/powerpoint/2010/main" val="12749766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2224D0-DD74-4AAF-A23B-11CF8A8A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Nine gates prevent the team from outrunning evidence or authority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1E650-4DCC-4E61-882C-11784B93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DECISION GATES G3–G11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F13A2-B974-4ADC-9DBB-C41EA05C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A74D1-8B41-498F-8939-34DE4064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CC7AA-B003-4041-8000-549AC9C6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1019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24A90-135A-4F52-B61F-E73A4821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78117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F7941-355D-4D49-944D-AB15BB5E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781175"/>
            <a:ext cx="318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CBDA2-6723-4754-A721-24AF7806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781175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Minimum exit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09ABD-BDB6-47DC-942B-822EC2D0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5057F-B7EC-4BB3-90A2-56B84CB6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33625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G3 / G4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63373D-E934-4D36-9C74-33CCB3DD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333625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Baseline + portfolio direction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87080-BDE8-4F3D-AA7E-651660C6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333625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Approved gap, assumptions, criteria and scenario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C70375-3FB7-4C38-A505-60CFEE11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67025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96AC82-B8F8-40AC-BB8C-BAF2F432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9337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G5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D113AC-B325-4C30-B254-92A6D6A0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93370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Market engagement authority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952D44-FB06-4B66-B06E-E9FAEC35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93370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Scope, disclosure boundary, resources and approver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945783-5465-4A8F-8F07-045AB735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67100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15F04F-80A4-49E9-B26D-917F8434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33775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G6 / G7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F60149-5D35-4718-A91A-C7BAB60D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33775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RFQ launch + shortlist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13B82F-40A7-4789-A37B-D6EC29E4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533775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Bidder set, evaluation rules, scorecard and DD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FF7A1E-6BD6-4F90-8C16-6C823616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67175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64133B-B4AE-4139-9D89-EFA95B20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1338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G8 / G9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BDEFF1-B02A-4C51-A437-C62119D6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3385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Mandate + preferred terms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E47727-4313-43C9-9F27-0B63CCE1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13385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Walk-away logic, residual risks and commercial impact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4CC760-7644-44C9-AE12-7911A3AD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98BF94-2ED9-4B62-90D3-0A96B800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733925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G10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8C1570-183C-430D-A751-6A6B2C35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733925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Signing readiness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44B7EC-5955-4875-B305-0321910A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733925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Final documents, CPs, funding and implementation owner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ECCFE7-79F9-4843-9B04-BFE446CA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67325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102AA3-9407-43CE-9AC9-8266C379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3340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G11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3A2DFF-FE72-42F5-82C8-C67F73B7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33400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BAU transition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BB3211-DC39-4F49-BC4C-34761BA2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33400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Delivery, certificate and reconciliation governance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E9F405-4559-452E-AA3F-40D499E8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436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rPr>
              <a:t>Gate owner and authority are HYPOTHESIS / TBD WITH CLIENT — deferral needs an owner, condition and date.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EDDF10-8BF4-4900-B421-85E8363D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Discussion draft | PRE-KICKOFF | AMAT-specific facts TBD</a:t>
            </a:r>
          </a:p>
        </p:txBody>
      </p:sp>
    </p:spTree>
    <p:extLst>
      <p:ext uri="{BB962C8B-B14F-4D97-AF65-F5344CB8AC3E}">
        <p14:creationId xmlns:p14="http://schemas.microsoft.com/office/powerpoint/2010/main" val="1088058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506DBF-F89C-42FB-9EF7-0B1D97C4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The critical path is the slower of market readiness and client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7BD75-E5DC-49EE-AE0B-D3532EBE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DEPENDENCY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3EC8E-FFA8-41A6-A6E0-9E891889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BAAEE-6090-4704-845B-65B7E1C6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086A7-654A-496E-B7CB-9D44B3F2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143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4BCF9-5638-42E6-B77C-6800D7F2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33550"/>
            <a:ext cx="5143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9A4B9-9A9F-46BF-A94C-246B2AF6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14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B9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131FF-C456-49D7-A4E9-6C900773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33550"/>
            <a:ext cx="514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62E222-FEDB-45FE-87B5-89EB2BE7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71675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External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03D3C4-934D-46AF-ADB7-25318673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71675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Internal authority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C3CA9C-E218-4893-AF39-F317423B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46863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Supplier / project maturity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COD and supply profile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Wheeling / meter prerequisites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Certificate issuance and transfer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Counterparty and commercial terms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AE4B8A-E60D-48A8-A8D8-5A39823D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52700"/>
            <a:ext cx="46863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Boundary, load and forecast data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Policy and eligibility interpretation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Procurement / budget / credit process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Legal mandate and approval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Site implementation and claim owner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1A56A7-C99C-4B97-9E4E-72CD8587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At every status review: identify the longest lead time, its evidence, owner, fallback and escalation date.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D3A86C-962B-4A62-A190-6280134A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Discussion draft | PRE-KICKOFF | AMAT-specific facts TBD</a:t>
            </a:r>
          </a:p>
        </p:txBody>
      </p:sp>
    </p:spTree>
    <p:extLst>
      <p:ext uri="{BB962C8B-B14F-4D97-AF65-F5344CB8AC3E}">
        <p14:creationId xmlns:p14="http://schemas.microsoft.com/office/powerpoint/2010/main" val="13218618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7430AB-E4CD-4D5E-B959-0B62C5A7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Prove the decision system before scaling market outreach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497EE-CD9E-4E44-BDA2-7E0EE51F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FIRST 90-DAY MVP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9BBED9-E834-47A4-9D09-17F8E21A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B7965-C584-4B23-86D6-449FCFAB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AEB02-18F7-4D55-AEC3-509FDBFE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1019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A52D21-09CF-4DB2-93E7-EB1C7BEB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8573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Planning archetype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EA8FB3-9A0C-4DF2-B11C-0B98B42C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857375"/>
            <a:ext cx="480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First MVP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682A6-6909-4B76-97BE-A132A7C0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85737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Review 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7DE18-1021-4C52-9338-F07CF605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43150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3B082-61C2-41BF-817F-67E2955C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0982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Weeks 1–2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1A98D-58BE-410C-BDBB-37D0A605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409825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G0, data owners, interview / workshop 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14CF28-C9AC-4258-8A22-D6DAECEE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409825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Sponsor / PM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9FA10-0D6F-4DDD-A17D-69DB10E0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95B544-5C74-4C07-8E61-686768EF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0099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Weeks 2–5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608D14-3F3A-49D9-BDD2-DC360C32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009900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Quality profile, workshop, gap boundary MVP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42179C-1044-4A32-9893-6CF2B20C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00990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G1 / G2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60A7DF-4ED4-40AA-ABF1-D981180E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43300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2E6E5C-1D6E-42D8-89F8-CBF85904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0997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Weeks 4–7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8C8E15-FB5F-4137-89E9-2F1E078A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609975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Gap and one-year portfolio scenarios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5982E5-ACEA-4B57-B6F3-C9931C25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609975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G3 / G4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A671D9-766D-4D8A-B090-019DC2C7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43375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E2C1FA-553D-4267-ABFB-712D4168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100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Weeks 6–9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7328DD-C5D7-4297-A5D2-BF75DB05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210050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Roadmap, desktop scan, research log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CDAAEC-AA4C-42C2-BB18-04423417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1005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G5 preparation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ACA790-6F22-40CB-9EDF-26871634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43450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6F8638-F37C-495E-858D-511A1F74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81012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Weeks 8–12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028C73-1079-4749-B3DB-6246C8FE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810125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Authorized sounding / outreach MVP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5218F6-1253-4697-8608-B711E4A1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810125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Market feedback review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CDEBC9-A784-41AD-BB26-3B2380B1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245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rPr>
              <a:t>These are planning ranges, not AMAT commitments; expand only after the preceding decision is explicit.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91EF6F-11B8-4B12-AE05-0A7CBF9F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Discussion draft | PRE-KICKOFF | AMAT-specific facts TBD</a:t>
            </a:r>
          </a:p>
        </p:txBody>
      </p:sp>
    </p:spTree>
    <p:extLst>
      <p:ext uri="{BB962C8B-B14F-4D97-AF65-F5344CB8AC3E}">
        <p14:creationId xmlns:p14="http://schemas.microsoft.com/office/powerpoint/2010/main" val="20961063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285A9A-1E92-43E2-8B47-9BE52631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Market disclosure increases only with written client authority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881A2-1E01-42B7-BBBF-37B36988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DISCLOSURE STAIRCASE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535B3-3ACA-4B38-92C1-14146A16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6AA5A-F0DE-485F-9B3C-BF58D5F5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6B9CB-5A6E-42DD-8AEB-9C707F44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17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BF163-8CA9-4EC0-B991-AE808E15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9575"/>
            <a:ext cx="2343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DESKTOP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677070-0F81-4A2B-9BB1-BB23856F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3867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Public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B6228-B5D5-43BE-89A7-839B494D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 external contact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69F1B5-908B-4019-B20B-7C55DA18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290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6F65B-5BA4-49A0-9120-5ED17B12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2343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ANONYMOUS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53F0EB-6E1C-4DE1-9126-09993206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195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Rounded / abstracted need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FDB309-CDC0-4195-94CA-CDE5EA24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29125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 identity or exact site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F47D3-531C-4047-98E3-3350FB68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9875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B9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6890E1-9E2A-415A-B10A-A510BDA8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81325"/>
            <a:ext cx="2343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NAMED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42D0EE-431E-4A94-ABCC-FC93F2B6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042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Authorized identity + range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FED5C6-D036-400A-BBD1-C52084A8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1000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 false commitment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E1738F-C2E8-4FA6-887C-864ABEAC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9075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766CA2-F569-4A20-A7CF-14E2D88D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62200"/>
            <a:ext cx="2343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RFQ / NEGOTIATION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756830-8CE2-48FA-96B2-0F5A4B8C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813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Approved bidder package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6F2011-84DE-4BC9-BCF5-0C09F8E9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90875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 cross-supplier disclosure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095C20-C05E-4F47-BDEF-59DF28F3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rPr>
              <a:t>Authority must define identity · site · volume · timing · recipients · permitted use.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B606A9-FF93-4571-9EE0-E014BD98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Discussion draft | PRE-KICKOFF | AMAT-specific facts TBD</a:t>
            </a:r>
          </a:p>
        </p:txBody>
      </p:sp>
    </p:spTree>
    <p:extLst>
      <p:ext uri="{BB962C8B-B14F-4D97-AF65-F5344CB8AC3E}">
        <p14:creationId xmlns:p14="http://schemas.microsoft.com/office/powerpoint/2010/main" val="1429246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FE7CB5-38C9-456F-B7C4-A3BF27B0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G5 is ready only when the market question and information boundary are precise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9FC73-06A4-4FF7-B0BA-62875195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LAUNCH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A2814-412F-47D8-AA36-50C98516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9A369-5743-4B2E-87E4-AF208898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3C4C1-E52B-4FB0-975A-49EC916F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0FBB9-F5BC-4834-8AE0-E48D17FD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62125"/>
            <a:ext cx="5143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DB29F-2127-42C4-8BB0-4AD65242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05DAE-91EF-4092-8550-C0A57D7B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62125"/>
            <a:ext cx="514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C94808-1E9D-4464-8E05-C27ADBEC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Required before launch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F5E9CE-CC57-474E-8DAB-EC8ABBFA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0025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Control conditions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C490BB-CAD4-4569-BBB9-65B777D9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81275"/>
            <a:ext cx="46863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Approved / conditional portfolio range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Specific market questions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Comparable information fields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Supplier categories and screening logic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Disclosure level and contact protocol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272E33-A24A-4875-918B-A9C25904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81275"/>
            <a:ext cx="46863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Named owner and reviewer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First small-universe MVP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Record and source rules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Stop / red-flag triggers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Review date and expansion 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5873A0-139F-4456-B7B1-CB97CE3A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rPr>
              <a:t>If any element is missing, label the activity conditional — do not treat silence as approval.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6E0155-887F-4CF7-95DA-40320E5A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Discussion draft | PRE-KICKOFF | AMAT-specific facts TBD</a:t>
            </a:r>
          </a:p>
        </p:txBody>
      </p:sp>
    </p:spTree>
    <p:extLst>
      <p:ext uri="{BB962C8B-B14F-4D97-AF65-F5344CB8AC3E}">
        <p14:creationId xmlns:p14="http://schemas.microsoft.com/office/powerpoint/2010/main" val="4611115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8B4207-DD65-41E6-B3B8-B162F53E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Close alignment with decisions, owners and dates — not a longer action 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B7BC39-5BDC-49F0-A22B-8AA6EED9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CLIENT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56863-D6EA-4834-B8A8-1BA2FAAC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12457-3BEB-40BA-80DA-7CF93A5E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37C0F-F293-44E3-9AF4-7C37A6F1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90700"/>
            <a:ext cx="1019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B16BAB-22C6-4641-88D3-91321985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838325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8CF43-FD12-4855-8CAB-1D7D61CA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838325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Decision requested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0EF3A-16A1-4E3E-B60B-A0F51E28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838325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Accountability hypothesis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A9079-A962-4EB2-BE4E-AD9B8C7D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24100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A704ED-8948-43C3-9708-17AB0F77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90775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Boundary / gap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3213A-6486-452C-A2DE-853434C4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390775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Approve or condition G3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2951C-0E5F-4006-9571-D66FA8C5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390775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Sustainability / decision body TBD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4F918-EC03-4EBB-A4AB-35FC1A77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24175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DED505-62B6-4D38-83B1-1801F128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99085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Portfolio direction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9BE13D-446E-475F-B216-7555661A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99085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Approve scenarios and hard constraints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60D77E-9285-423E-839A-8B470F14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9908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Steering / Finance / Procurement TBD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07C14F-66B6-4DFC-8E78-C9B78160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24250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349293-4B97-47F6-AE46-C9D3258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90925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Market authority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773366-8B6A-4FE4-996D-DF53CBD2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590925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Approve disclosure level and recipients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903E5A-ED01-47CF-A782-2A2ADFE3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90925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Sponsor / Procurement / Legal TBD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DBDABE-D7CE-4404-AF1A-AF430A42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24325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A527F9-50B7-4771-A66E-87A7D821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19100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Critical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EF9692-8F10-4F5B-B69E-697E464A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19100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Name longest lead-time owner and fallback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CA1853-A1D7-4468-8374-CE4452B3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19100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Project Lead + client owner TBD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5A39FE-BF9A-45DC-81A4-19F9231A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24400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FC100D-CAF2-4B55-B761-7762B15F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791075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Next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3F5F84-2479-40A5-A86D-084A2FA1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791075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Set G5 evidence date and expansion rule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0E196E-EB03-4A5B-81B8-E0AB81F7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791075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Decision body TBD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5EF0C3-B932-48FA-988F-40131FC0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245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APPROVE · APPROVE WITH CONDITIONS · DEFER WITH OWNER / DATE · RE-SCOPE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B5111B-7ADD-4245-B514-15C7CEAA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Discussion draft | PRE-KICKOFF | AMAT-specific facts TBD</a:t>
            </a:r>
          </a:p>
        </p:txBody>
      </p:sp>
    </p:spTree>
    <p:extLst>
      <p:ext uri="{BB962C8B-B14F-4D97-AF65-F5344CB8AC3E}">
        <p14:creationId xmlns:p14="http://schemas.microsoft.com/office/powerpoint/2010/main" val="20936066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2026-09-27T05:12:03.9780000Z</dcterms:created>
  <dcterms:modified xsi:type="dcterms:W3CDTF">2026-09-27T05:12:03.9790000Z</dcterms:modified>
</coreProperties>
</file>