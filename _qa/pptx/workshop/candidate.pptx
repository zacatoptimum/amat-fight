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ff21f4fc684733" /><Relationship Type="http://schemas.openxmlformats.org/officeDocument/2006/relationships/extended-properties" Target="/docProps/app.xml" Id="R70e7278becea48ff" /><Relationship Type="http://schemas.openxmlformats.org/officeDocument/2006/relationships/officeDocument" Target="/ppt/presentation.xml" Id="R23bb9b3870b5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a410b528842c4"/>
  </p:sldMasterIdLst>
  <p:notesMasterIdLst>
    <p:notesMasterId xmlns:r="http://schemas.openxmlformats.org/officeDocument/2006/relationships" r:id="R7e3e0d457fbd42a9"/>
  </p:notesMasterIdLst>
  <p:sldIdLst>
    <p:sldId xmlns:r="http://schemas.openxmlformats.org/officeDocument/2006/relationships" id="256" r:id="R89a354be71754696"/>
    <p:sldId xmlns:r="http://schemas.openxmlformats.org/officeDocument/2006/relationships" id="257" r:id="Ra2f55748dff1414a"/>
    <p:sldId xmlns:r="http://schemas.openxmlformats.org/officeDocument/2006/relationships" id="258" r:id="Ra9d2c928b1ad497f"/>
    <p:sldId xmlns:r="http://schemas.openxmlformats.org/officeDocument/2006/relationships" id="259" r:id="R321da3e56ce5476d"/>
    <p:sldId xmlns:r="http://schemas.openxmlformats.org/officeDocument/2006/relationships" id="260" r:id="R1b8fd3ed543e47ee"/>
    <p:sldId xmlns:r="http://schemas.openxmlformats.org/officeDocument/2006/relationships" id="261" r:id="Rdf48c5a0970a4c85"/>
    <p:sldId xmlns:r="http://schemas.openxmlformats.org/officeDocument/2006/relationships" id="262" r:id="R8dd7869d8fa94b30"/>
    <p:sldId xmlns:r="http://schemas.openxmlformats.org/officeDocument/2006/relationships" id="263" r:id="R6686362af06740ba"/>
    <p:sldId xmlns:r="http://schemas.openxmlformats.org/officeDocument/2006/relationships" id="264" r:id="Redb5736d9e304108"/>
    <p:sldId xmlns:r="http://schemas.openxmlformats.org/officeDocument/2006/relationships" id="265" r:id="Rb7dc0411925e4ed5"/>
    <p:sldId xmlns:r="http://schemas.openxmlformats.org/officeDocument/2006/relationships" id="266" r:id="R602aeac34c3a4afe"/>
    <p:sldId xmlns:r="http://schemas.openxmlformats.org/officeDocument/2006/relationships" id="267" r:id="R373646bf6f4a44dd"/>
    <p:sldId xmlns:r="http://schemas.openxmlformats.org/officeDocument/2006/relationships" id="268" r:id="R6a6fc939c10b40b7"/>
    <p:sldId xmlns:r="http://schemas.openxmlformats.org/officeDocument/2006/relationships" id="269" r:id="Raec5459eb83e4959"/>
    <p:sldId xmlns:r="http://schemas.openxmlformats.org/officeDocument/2006/relationships" id="270" r:id="R2ffe600ddf7541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8ca7742b44e42" /><Relationship Type="http://schemas.openxmlformats.org/officeDocument/2006/relationships/slideMaster" Target="/ppt/slideMasters/slideMaster1.xml" Id="R41fa410b528842c4" /><Relationship Type="http://schemas.openxmlformats.org/officeDocument/2006/relationships/notesMaster" Target="/ppt/notesMasters/notesMaster1.xml" Id="R7e3e0d457fbd42a9" /><Relationship Type="http://schemas.openxmlformats.org/officeDocument/2006/relationships/presProps" Target="/ppt/presProps.xml" Id="R628789d0478e49fc" /><Relationship Type="http://schemas.openxmlformats.org/officeDocument/2006/relationships/tableStyles" Target="/ppt/tableStyles.xml" Id="Rc2fae928c6854a9d" /><Relationship Type="http://schemas.openxmlformats.org/officeDocument/2006/relationships/slide" Target="/ppt/slides/slide1.xml" Id="R89a354be71754696" /><Relationship Type="http://schemas.openxmlformats.org/officeDocument/2006/relationships/slide" Target="/ppt/slides/slide2.xml" Id="Ra2f55748dff1414a" /><Relationship Type="http://schemas.openxmlformats.org/officeDocument/2006/relationships/slide" Target="/ppt/slides/slide3.xml" Id="Ra9d2c928b1ad497f" /><Relationship Type="http://schemas.openxmlformats.org/officeDocument/2006/relationships/slide" Target="/ppt/slides/slide4.xml" Id="R321da3e56ce5476d" /><Relationship Type="http://schemas.openxmlformats.org/officeDocument/2006/relationships/slide" Target="/ppt/slides/slide5.xml" Id="R1b8fd3ed543e47ee" /><Relationship Type="http://schemas.openxmlformats.org/officeDocument/2006/relationships/slide" Target="/ppt/slides/slide6.xml" Id="Rdf48c5a0970a4c85" /><Relationship Type="http://schemas.openxmlformats.org/officeDocument/2006/relationships/slide" Target="/ppt/slides/slide7.xml" Id="R8dd7869d8fa94b30" /><Relationship Type="http://schemas.openxmlformats.org/officeDocument/2006/relationships/slide" Target="/ppt/slides/slide8.xml" Id="R6686362af06740ba" /><Relationship Type="http://schemas.openxmlformats.org/officeDocument/2006/relationships/slide" Target="/ppt/slides/slide9.xml" Id="Redb5736d9e304108" /><Relationship Type="http://schemas.openxmlformats.org/officeDocument/2006/relationships/slide" Target="/ppt/slides/slide10.xml" Id="Rb7dc0411925e4ed5" /><Relationship Type="http://schemas.openxmlformats.org/officeDocument/2006/relationships/slide" Target="/ppt/slides/slide11.xml" Id="R602aeac34c3a4afe" /><Relationship Type="http://schemas.openxmlformats.org/officeDocument/2006/relationships/slide" Target="/ppt/slides/slide12.xml" Id="R373646bf6f4a44dd" /><Relationship Type="http://schemas.openxmlformats.org/officeDocument/2006/relationships/slide" Target="/ppt/slides/slide13.xml" Id="R6a6fc939c10b40b7" /><Relationship Type="http://schemas.openxmlformats.org/officeDocument/2006/relationships/slide" Target="/ppt/slides/slide14.xml" Id="Raec5459eb83e4959" /><Relationship Type="http://schemas.openxmlformats.org/officeDocument/2006/relationships/slide" Target="/ppt/slides/slide15.xml" Id="R2ffe600ddf7541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1d9eebf7748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25091b70a24eb1" /><Relationship Type="http://schemas.openxmlformats.org/officeDocument/2006/relationships/notesMaster" Target="/ppt/notesMasters/notesMaster1.xml" Id="R165c1041d8c943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0566aa12a4967" /><Relationship Type="http://schemas.openxmlformats.org/officeDocument/2006/relationships/notesMaster" Target="/ppt/notesMasters/notesMaster1.xml" Id="R9a1ffef3a551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3a0fcf8774568" /><Relationship Type="http://schemas.openxmlformats.org/officeDocument/2006/relationships/notesMaster" Target="/ppt/notesMasters/notesMaster1.xml" Id="R8ebde0c908b942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e13ef16c8d480c" /><Relationship Type="http://schemas.openxmlformats.org/officeDocument/2006/relationships/notesMaster" Target="/ppt/notesMasters/notesMaster1.xml" Id="R63aa43e732e94f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c533d6a3cc4029" /><Relationship Type="http://schemas.openxmlformats.org/officeDocument/2006/relationships/notesMaster" Target="/ppt/notesMasters/notesMaster1.xml" Id="R9a919e68e7ac45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692514f09943e6" /><Relationship Type="http://schemas.openxmlformats.org/officeDocument/2006/relationships/notesMaster" Target="/ppt/notesMasters/notesMaster1.xml" Id="R206c782f5a2044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ded8aebb248fa" /><Relationship Type="http://schemas.openxmlformats.org/officeDocument/2006/relationships/notesMaster" Target="/ppt/notesMasters/notesMaster1.xml" Id="Ree32f1f4bbe948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729e98eb894c29" /><Relationship Type="http://schemas.openxmlformats.org/officeDocument/2006/relationships/notesMaster" Target="/ppt/notesMasters/notesMaster1.xml" Id="Rb1f8d7bd06a542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3798d65f6841af" /><Relationship Type="http://schemas.openxmlformats.org/officeDocument/2006/relationships/notesMaster" Target="/ppt/notesMasters/notesMaster1.xml" Id="R7fee4ffa8f6a4e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0a8587f6e54e9c" /><Relationship Type="http://schemas.openxmlformats.org/officeDocument/2006/relationships/notesMaster" Target="/ppt/notesMasters/notesMaster1.xml" Id="R4f9ddcd8434342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ec228c74974cfa" /><Relationship Type="http://schemas.openxmlformats.org/officeDocument/2006/relationships/notesMaster" Target="/ppt/notesMasters/notesMaster1.xml" Id="R3698246842ef45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39b1c582104ca0" /><Relationship Type="http://schemas.openxmlformats.org/officeDocument/2006/relationships/notesMaster" Target="/ppt/notesMasters/notesMaster1.xml" Id="R8a5e9197d3214a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d2f20da8054eaa" /><Relationship Type="http://schemas.openxmlformats.org/officeDocument/2006/relationships/notesMaster" Target="/ppt/notesMasters/notesMaster1.xml" Id="Rc3ebfd0a59cc48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536493c7a34b21" /><Relationship Type="http://schemas.openxmlformats.org/officeDocument/2006/relationships/notesMaster" Target="/ppt/notesMasters/notesMaster1.xml" Id="Re22c6ee19e0142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98304809be4edd" /><Relationship Type="http://schemas.openxmlformats.org/officeDocument/2006/relationships/notesMaster" Target="/ppt/notesMasters/notesMaster1.xml" Id="R25bc0da3570d4a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build a shared language and convert market understanding into AMAT decisions and inputs. Official references accessed 2026-09-27: T-REC documents https://www.trec.org.tw/documents ; T-REC regulations https://www.trec.org.tw/index.php/en/regulations ; Taipower wheeling/direct supply operating rules https://service.taipower.com.tw/powerwheeling/static/file/1130318%E8%BD%89%E7%9B%B4%E4%BE%9B%E7%87%9F%E9%81%8B%E8%A6%8F%E7%AB%A0.pdf . Verify latest versions before client delivery. This workshop is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confirming what must be decided today and what belongs in later legal, technical or supplier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Who is missing, who is optional, and who owns each decision? Do not present this as AMAT's known organization.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Who inside AMAT owns each interface? Official references accessed 2026-09-27: T-REC documents https://www.trec.org.tw/documents ; T-REC regulations https://www.trec.org.tw/index.php/en/regulations ; Taipower wheeling/direct supply operating rules https://service.taipower.com.tw/powerwheeling/static/file/1130318%E8%BD%89%E7%9B%B4%E4%BE%9B%E7%87%9F%E9%81%8B%E8%A6%8F%E7%AB%A0.pdf . Verify latest versions before client delivery. This workshop is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flow is least clear today? Official references accessed 2026-09-27: T-REC documents https://www.trec.org.tw/documents ; T-REC regulations https://www.trec.org.tw/index.php/en/regulations ; Taipower wheeling/direct supply operating rules https://service.taipower.com.tw/powerwheeling/static/file/1130318%E8%BD%89%E7%9B%B4%E4%BE%9B%E7%87%9F%E9%81%8B%E8%A6%8F%E7%AB%A0.pdf . Verify latest versions before client delivery. This workshop is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site conditions are worth collecting first? Official references accessed 2026-09-27: T-REC documents https://www.trec.org.tw/documents ; T-REC regulations https://www.trec.org.tw/index.php/en/regulations ; Taipower wheeling/direct supply operating rules https://service.taipower.com.tw/powerwheeling/static/file/1130318%E8%BD%89%E7%9B%B4%E4%BE%9B%E7%87%9F%E9%81%8B%E8%A6%8F%E7%AB%A0.pdf . Verify latest versions before client delivery. This workshop is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dependency would become a hard constraint for AMAT? Official references accessed 2026-09-27: T-REC documents https://www.trec.org.tw/documents ; T-REC regulations https://www.trec.org.tw/index.php/en/regulations ; Taipower wheeling/direct supply operating rules https://service.taipower.com.tw/powerwheeling/static/file/1130318%E8%BD%89%E7%9B%B4%E4%BE%9B%E7%87%9F%E9%81%8B%E8%A6%8F%E7%AB%A0.pdf . Verify latest versions before client delivery. This workshop is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What policy conditions must be satisfied? Official references accessed 2026-09-27: T-REC documents https://www.trec.org.tw/documents ; T-REC regulations https://www.trec.org.tw/index.php/en/regulations ; Taipower wheeling/direct supply operating rules https://service.taipower.com.tw/powerwheeling/static/file/1130318%E8%BD%89%E7%9B%B4%E4%BE%9B%E7%87%9F%E9%81%8B%E8%A6%8F%E7%AB%A0.pdf . Verify latest versions before client delivery. This workshop is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horizon is most constrained by an external deadline? Do not infer AMAT volume or target 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criteria are hard constraints and which are preferences? Who approves the definitions and weights?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constraints need official research, supplier evidence or client input? Official references accessed 2026-09-27: T-REC documents https://www.trec.org.tw/documents ; T-REC regulations https://www.trec.org.tw/index.php/en/regulations ; Taipower wheeling/direct supply operating rules https://service.taipower.com.tw/powerwheeling/static/file/1130318%E8%BD%89%E7%9B%B4%E4%BE%9B%E7%87%9F%E9%81%8B%E8%A6%8F%E7%AB%A0.pdf . Verify latest versions before client delivery. This workshop is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Which internal lead time is most likely to control the schedule?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Who approves the boundary, assumptions, criteria and scenario set?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Discussion: At which stage may identity, volume, site and timing be disclosed? Apply the Market Conduct and Information Boundary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Within 48 hours, update the decision, action, assumption, question and data-request logs; then feed approved inputs to 1.4–1.6.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9f18b15014b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79b3deb365487e" /><Relationship Type="http://schemas.openxmlformats.org/officeDocument/2006/relationships/slideLayout" Target="/ppt/slideLayouts/slideLayout1.xml" Id="R5a064e27556e4e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64e27556e4e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86a46cdb54630" /><Relationship Type="http://schemas.openxmlformats.org/officeDocument/2006/relationships/notesSlide" Target="/ppt/notesSlides/notesSlide1.xml" Id="R74d7528c10e44f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b3c57ff7a4898" /><Relationship Type="http://schemas.openxmlformats.org/officeDocument/2006/relationships/notesSlide" Target="/ppt/notesSlides/notesSlide2.xml" Id="Rfe0982532dea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0db2c3ff447bd" /><Relationship Type="http://schemas.openxmlformats.org/officeDocument/2006/relationships/notesSlide" Target="/ppt/notesSlides/notesSlide3.xml" Id="R1b8936256b31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b2848065f4b3e" /><Relationship Type="http://schemas.openxmlformats.org/officeDocument/2006/relationships/notesSlide" Target="/ppt/notesSlides/notesSlide4.xml" Id="R319023ecc88c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a1dbaaed24593" /><Relationship Type="http://schemas.openxmlformats.org/officeDocument/2006/relationships/notesSlide" Target="/ppt/notesSlides/notesSlide5.xml" Id="R0dd125a3983a4d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e006e28f048ff" /><Relationship Type="http://schemas.openxmlformats.org/officeDocument/2006/relationships/notesSlide" Target="/ppt/notesSlides/notesSlide6.xml" Id="Rccaf8865b1d643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bce89ddcb4aa4" /><Relationship Type="http://schemas.openxmlformats.org/officeDocument/2006/relationships/notesSlide" Target="/ppt/notesSlides/notesSlide7.xml" Id="R261f58a9cf8e40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9baf3d5d947be" /><Relationship Type="http://schemas.openxmlformats.org/officeDocument/2006/relationships/notesSlide" Target="/ppt/notesSlides/notesSlide8.xml" Id="Ref6207a7f8d448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bbee3a98e496b" /><Relationship Type="http://schemas.openxmlformats.org/officeDocument/2006/relationships/notesSlide" Target="/ppt/notesSlides/notesSlide9.xml" Id="R4774d9b0e95c46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0969a77264827" /><Relationship Type="http://schemas.openxmlformats.org/officeDocument/2006/relationships/notesSlide" Target="/ppt/notesSlides/notesSlide10.xml" Id="R299ca43232334d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199de42224d0a" /><Relationship Type="http://schemas.openxmlformats.org/officeDocument/2006/relationships/notesSlide" Target="/ppt/notesSlides/notesSlide11.xml" Id="R265ae9c9901341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cb660159c462d" /><Relationship Type="http://schemas.openxmlformats.org/officeDocument/2006/relationships/notesSlide" Target="/ppt/notesSlides/notesSlide12.xml" Id="Raa757664d1b042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69ad8c378468e" /><Relationship Type="http://schemas.openxmlformats.org/officeDocument/2006/relationships/notesSlide" Target="/ppt/notesSlides/notesSlide13.xml" Id="R9e39d097867d43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5ca78db684e5f" /><Relationship Type="http://schemas.openxmlformats.org/officeDocument/2006/relationships/notesSlide" Target="/ppt/notesSlides/notesSlide14.xml" Id="R76f90ad0689944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28b8941d14832" /><Relationship Type="http://schemas.openxmlformats.org/officeDocument/2006/relationships/notesSlide" Target="/ppt/notesSlides/notesSlide15.xml" Id="R30fdee9ac75b49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520D7-DDB6-4490-983C-A0E8912A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5FF34-9864-4910-B86E-07DAD7E7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95E41-A907-4638-B3AF-566F3CFD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rPr>
              <a:t>OPTIMUM / 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00CCC-695E-4F59-A529-2F64265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Understanding the interfaces is the prerequisite to choosing a Taiwan procurement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834B1-D7A1-4143-8221-7B20D3DA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rPr>
              <a:t>Taiwan Renewable Electricity Procurement Workshop | Decision-preparation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9277B-B803-4849-B9BF-62D641D9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EF83C-A5EA-4385-806B-03690BF1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61E46-3A28-4B88-9884-6A1DD64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60A02-7FE1-41CA-AD63-DB962153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16E7E-EA63-4CCA-B2B6-9F57033A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37CF1-AC71-453E-93E1-C2A740FC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456BE-64DB-42CB-8F0A-FB03C75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8B0EE-704B-4A0D-9B6E-28F0F262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F41F8F-7340-45F1-95A8-04275C6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rPr>
              <a:t>PRE-KICKOFF DRAFT · 2026-09-27</a:t>
            </a:r>
          </a:p>
        </p:txBody>
      </p:sp>
    </p:spTree>
    <p:extLst>
      <p:ext uri="{BB962C8B-B14F-4D97-AF65-F5344CB8AC3E}">
        <p14:creationId xmlns:p14="http://schemas.microsoft.com/office/powerpoint/2010/main" val="978721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F4070-161D-4E5E-AD88-7D37B58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Today's goal is decision readiness, not a complete regulatory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5F4EB-0A2F-41E1-B078-D2E8A1B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WORKSHOP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26BDD-8F3A-4008-895B-4B91AE8F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31804-2134-4452-8478-EE5EB1FB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47F2C-FA30-4D0B-A5B3-46E1600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37E83-4081-4E05-8A25-B6F1D6F5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2B7C9-A1E9-4DD9-A082-E2F6983B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93C29-D1E9-4994-8A65-550F3C1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D5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880B6-8979-4681-A881-75C25CC8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07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 will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579A9-8F0C-4655-8D27-612DD10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907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We will not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33330-81E6-4DAB-BADF-9E6C2227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68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Build one language for roles and flows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Compare option trade-offs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Identify hard constraints and evidence needs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Assign decisions, owners and 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BF0C5-0EBD-4AD3-93AA-6BBB04A0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68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Invent AMAT facts or preferences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Provide legal advice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Select a supplier without evidence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Treat signing a contract as proof of delivery or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7F730-611B-4C2B-9B44-BD88B32C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388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Outputs → 1.4 gap boundary · 1.5 scenario criteria · 1.6 roadmap / gates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3D317-1E7C-4D8D-988F-3717BC7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960682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1EC95E-DA9A-4836-9C9B-5B35041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The right participants change by the decision being prepared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8AB7E-67CC-4F30-A15C-5507E1B4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PARTICIPANT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E1BC6-2E49-4652-AF35-B23674B6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FB274-3355-4950-B506-2BEB5B59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BAE84-AF24-442B-9FD3-DF118ED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F436E-6F75-4D30-AAEB-B34650D1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430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99804-5F4E-4759-B0A6-398D1A71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430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Likely accountable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27612-1D30-47D4-A94F-712B9EA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743075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Must consult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17930-7E36-4223-A6F9-3A3F5C17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288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CAE7C-8DAC-42F0-812F-CFC8D45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955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Target / 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3619F-63F8-4D95-B152-ABB578FA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955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Sustainability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1E3A3-A06A-487D-8487-CDBEA4F0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95525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Regional / global sustainability · Legal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35C06-7865-4C0B-8D63-3432264D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00651-A38F-40A3-97EA-4FB73A67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956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Load /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410C5-BC32-49B5-9536-D3A6A0DD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956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Facilities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0C7F0-79EB-4CB8-8394-A730B554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956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Sustainability · Procurement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361AD-D2E2-4173-A272-4373CCEB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C7E51-F143-48C3-B909-7B0D8D88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956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/ RFQ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F5707-45DA-4EF5-8662-C28327DE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956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Procurement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A6DB2-AB13-4442-8367-24C2831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95675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Legal · Sustainability · Optimum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F8B7D-F355-466D-A434-58B5BF39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290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BC56E-E903-43BC-A528-D893D6F9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957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Cost /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D3D78-4465-455D-8535-3C0B582E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9575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688DA-05E6-434F-906B-4814992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957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Procurement · Legal · Sponsor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FD57C-087F-46BA-8E2C-5EFA3A76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291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74D129-A210-465E-9DD2-F8DB3DB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958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Contract / 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B1DA5F-215B-4225-9D1C-E27AD79F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Authorized approver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D9550-EC6A-47C4-A5FA-A527470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95825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Procurement · Legal · 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880E53-A243-463F-8C8E-204D64CC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292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E0DBD-1B4D-4BB1-9DF1-C7CF12A1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959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Roadmap / resources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7A88BF-617A-41D5-8469-FFC22479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2959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Sponsor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F6B6E3-3AAD-4A08-8A10-FDD4CC8E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2959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All affected owners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7384E-6107-498D-A4C7-9353C163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436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HYPOTHESIS — validate named people, authority and required segments before invitations are sent.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EB2C1D-175A-4D74-A8D7-5815EEC3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698402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14031-A1B3-4797-AEE4-90E7716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Taiwan procurement involves five interfaces that AMAT must coordinate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76482-BC4D-4DDE-B06D-4BF489B1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MARKET PARTICIPANTS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554D3-3087-4A2F-904F-22204F53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1BD1D-A67B-4E36-A3DD-2508608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4AD6E-BCE1-480C-B6AB-4C63203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34D8C-F8F5-4923-A526-0132C6CD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621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Generator / 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B3074-E919-4DAD-B399-5A7FA7FF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F2964-1E4A-4901-989E-1ADD665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671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Renewable retailer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6F301-E877-4D09-9F24-010329D7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57B1C-952C-4DE5-8D10-4898EB61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670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Corporate buyer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BEE50-A4D2-4CF2-8933-8237332E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0E4B9-C6AF-42F8-BCD8-B17BA987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621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Grid / Taipower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5504F-4CE2-495E-AF3B-4667AAE2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576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C62BB-C419-4967-935D-7D4C9742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0671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T-REC /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47442-B39A-43F7-904D-4C8C558B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1381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FB8BA-8C77-46CF-BC39-8F5C30A1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86250"/>
            <a:ext cx="1381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B280B-CCBD-461D-B92C-D29086F4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381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94589-157B-482D-A7AA-27FBCDB2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1381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4BDE9-DDA5-4DAB-866E-A980835F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Advisor / counsel / verifier support the interfaces — they do not replace client authority.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C22E2-18C0-4DEF-86A3-5EA04BDF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616422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2FFDDE-5313-46AB-B83F-E8154448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Electricity, contracts and certificates move through different but linked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86198-978B-44E2-89B1-60B95721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THREE 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2CFCD-143B-48A9-BF7C-0744AC96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D9879-0F79-4F25-85EE-B798129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8380-5FCA-4E81-8B62-E9AEECB4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95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4C956C"/>
                </a:solidFill>
                <a:latin typeface="Microsoft JhengHei"/>
                <a:ea typeface="Microsoft JhengHei"/>
                <a:cs typeface="Microsoft JhengHei"/>
              </a:rPr>
              <a:t>1 · ELECTRICITY /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5AD7E-407F-49F6-87D3-04B30DE8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5B4A1-8D5C-433C-B4BD-09AC97DA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6347E-9568-439C-9A3F-382E1EA5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6692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47406-0DB3-4ABA-BFA3-4FE81802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335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2B256-7E3D-4160-B9EB-F1148B2F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Grid / direct connection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ACDEE-DB4E-4201-AC82-E5CF89B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6692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4F773-A70F-4684-95F5-6E8513B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ABDC0-4E6B-4296-BA83-1B44E0C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66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Buyer meter / account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3AF05-9D4B-4AEA-BC0B-F152F7AF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6B9D"/>
                </a:solidFill>
                <a:latin typeface="Microsoft JhengHei"/>
                <a:ea typeface="Microsoft JhengHei"/>
                <a:cs typeface="Microsoft JhengHei"/>
              </a:rPr>
              <a:t>2 · CONTRACT / MONEY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9345B-FE60-4FE0-A20F-DDD009A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B9718-2FC7-4C42-A8F0-2EED9CFC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PPA / retail /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AE4C5-108D-41C0-B895-B01D21B9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1947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15CC9-A44B-4A98-8B9D-95665724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ECD9A-47D8-4950-B869-6F90664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Price / volume / settlement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C004A-9609-49BF-9FD0-BAE13CD3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1947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B9AFD-74BC-45B3-B75C-3266696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BFE0D-7029-4C55-9B75-EB5F9CE5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Credit / change / 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FA044-9BC0-48AE-B4A6-5064F4F8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9B3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59B32"/>
                </a:solidFill>
                <a:latin typeface="Microsoft JhengHei"/>
                <a:ea typeface="Microsoft JhengHei"/>
                <a:cs typeface="Microsoft JhengHei"/>
              </a:rPr>
              <a:t>3 · CERTIFICATE / CLAIM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30120-63DA-44E8-8C20-37F4C93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386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F0EFBC-6118-44B6-9BE9-4DD0866F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72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Verification / issuance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19554-9507-47AF-98EB-47E2CEDD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7202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3B20D-84D0-435A-A775-F5A966B5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386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E6C86-CE47-4A66-A88C-7A2464D3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72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Transfer / ownership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4EB2F-4EE9-4270-A736-C823CFB2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72025"/>
            <a:ext cx="381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4535E8-093A-4E7B-801E-D5611DC8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81590-9E15-47EA-AB63-40914994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720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Use / claim record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7F7532-0FB6-496F-A6AE-57A1D884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A contract signature does not by itself prove physical delivery or complete claim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C5AF7-CF15-47F0-B5D6-589B42E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008650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CD8D5-5728-486E-B424-EA68918B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Onsite generation trades scale for site control and visible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05764-5119-4C88-A4DE-E8D57D39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OPTION 1 — ONSITE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36C65-E433-47FF-BF16-1DA9980C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61DD9-0A11-4FC0-B684-13B794FD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B661D-50E3-4A52-AC87-F528351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7955D-E7D0-4075-991D-FB719E6B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3F6B1-294A-4DE3-A68F-451B5ED8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Potential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291A0-E778-4E27-B7B4-F7931262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11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Cover part of site load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Visible site-level action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Possible portfolio diversification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CF8C6-81C0-49C8-BE43-4691E11D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9F269-3808-46CA-83EA-1289F310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A94A5-5378-40F7-B196-D573A1B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Tests before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2AB5C-7869-4272-925D-60DE6E83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743200"/>
            <a:ext cx="3111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Roof / land and site tenure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Load and generation profile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Capex / opex / ownership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AF699-DC0A-4F5F-8EBB-7BC3C6B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02EBF-6A64-49BB-BF47-D705BA75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6427E-A90C-4432-B892-E638C43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Interfaces to confirm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BD19E7-2B83-4EAD-BE25-8B2C2F52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43200"/>
            <a:ext cx="3111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Self-use / export treatment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Meter / data availability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Certificate ownership and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2CB7E-F19F-47ED-B04E-7F23A385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No AMAT site feasibility conclusion is implied — first collect the site conditions that could change the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6E24D-AAAC-4F48-BAB9-5C74467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965054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4F0FC2-D41A-4E00-BC9D-60102A28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Offsite procurement requires coordinated delivery interfaces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B7582-944F-4ACA-B7FB-3EC283B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OPTION 2 — OFFSITE / RETAILER-ENABLED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056CC-AB31-431C-B1E2-A6C4A8A7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18B4A-F183-4EF5-B511-46A16F7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67AE1-7F22-4461-8BB2-2C675B9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72E98-BB07-482F-AF00-E2632DDB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Project / asset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5077D-A13F-4089-AB75-1AC0E164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AB914-74AC-40FB-8090-7C90C666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860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0C7E7-B1AA-4BBE-AAA1-48D9C219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COD +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7EE53-5BA2-4C84-BCE6-627A6907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95575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5EB49-604C-4B7B-A6F3-1F5A42E1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6F984-628C-4047-94DF-B3E1CD97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Grid / wheeling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D27F2-CEB6-4CFD-A620-42811AA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95575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C9001-EABA-4A5A-9FC8-152C4DCC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E5F8B-87AE-49BF-8E3B-9B613364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Retail / settlement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3678F-FC40-4C72-BF9C-13FDAF97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95575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09066-416A-4F7C-BECD-2EDD5032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C191C-AB46-4074-B5C1-701B8366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57450"/>
            <a:ext cx="1771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Buyer + T-REC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EB138-32CE-4BAF-B752-61AC8214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49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33DBC-D580-4969-9BC3-39CEB257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283DE-BAD7-4998-B294-9E74549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33825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Supply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A702A-B899-4B96-93FC-E06FC544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311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Maturity / COD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Volume / profile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Curtailment / delivery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F761D-1A7F-41C8-84A8-03C33114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667125"/>
            <a:ext cx="349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DF1CDC-2D2C-4983-A342-240B72C7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667125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8A3C9-9F17-439E-AF19-2C4D89F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933825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Commercial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60975-BD47-42B4-85C3-2AFF97D3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4600575"/>
            <a:ext cx="311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Price / tenor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Credit / guarantee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Change / termination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B1E0E2-0B94-4154-8335-142F1698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667125"/>
            <a:ext cx="3492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B2599-56FC-44A9-83E8-FA4080A8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3667125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752E9-3215-4BC3-80C4-90C30632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933825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A6744C-AFAA-455F-852F-B24E30B2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600575"/>
            <a:ext cx="311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Wheeling / meters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Certificate timing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Internal approvals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24229-6331-443A-881A-E45454D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862084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76A6C-BDE4-48CD-B068-E2E8929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Certificate-only procurement can fill timing gaps but must pass policy and evidence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8EC23-70F3-4AC7-8D97-535D2FC8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OPTION 3 — T-REC / CERTIFICATE-ONLY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B4C59-EFCF-4397-89A9-61DB43DB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B0F21-043E-4D25-AB60-8CC7DBE8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1D7BD-27E1-476E-837F-CCF3A186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84A1A-56D6-4AC0-9740-C9BCF61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Facility / energy 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B5083-A09F-4619-B97B-E5F18EA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9080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30781-717D-48D0-800A-2C3AFF4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907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2B821-0CD1-4F92-8226-8587CDC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431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 issued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EC34F-08E2-43B8-87B3-9F771E91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9080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8DC13-D6A8-4633-8EEA-BBC898C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907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68291-2FA7-4C3A-8747-AC178CD6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431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Ownership transferred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EBB9A-8893-4320-88E2-ECE13119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9080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6733E-25AD-4947-8B2A-76D53BFE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907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2847F-DB2A-43EE-B59A-B1D82D44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431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Used / claimed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DB3F8-AC5A-4465-9767-56135ABF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9080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71C93-FF83-42F9-9CC6-2E4D4BE4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3F44B-2CE5-4161-BFB1-4551F1F1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431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Evidence retained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4D7F6-57BB-41C6-B9CE-03E7E4B2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143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17EFB-0A84-4B7C-8C5F-D7DEE8AB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143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03E36-0D84-4FF6-9012-F846A46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F1C41-9D5E-49A3-9AE2-B64485DC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D5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E649A-5C0E-4B90-ACE5-9A56ABE1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Use case to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FCDBB-3D3F-4841-8DD0-1FE8F08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576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Controls to 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DB9B-5D90-4679-BFB6-52531145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4686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3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Near-term residual gap</a:t>
            </a:r>
          </a:p>
          <a:p xmlns:a="http://schemas.openxmlformats.org/drawingml/2006/main">
            <a:pPr marL="228600" indent="-114300">
              <a:spcAft>
                <a:spcPts val="3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Small or variable requirement</a:t>
            </a:r>
          </a:p>
          <a:p xmlns:a="http://schemas.openxmlformats.org/drawingml/2006/main">
            <a:pPr marL="228600" indent="-114300">
              <a:spcAft>
                <a:spcPts val="3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Bridge until longer-term supply starts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7C99FA-3E57-419E-97EF-A40B70AD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4686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3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Eligibility and vintage</a:t>
            </a:r>
          </a:p>
          <a:p xmlns:a="http://schemas.openxmlformats.org/drawingml/2006/main">
            <a:pPr marL="228600" indent="-114300">
              <a:spcAft>
                <a:spcPts val="3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Ownership / transfer / claim status</a:t>
            </a:r>
          </a:p>
          <a:p xmlns:a="http://schemas.openxmlformats.org/drawingml/2006/main">
            <a:pPr marL="228600" indent="-114300">
              <a:spcAft>
                <a:spcPts val="3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Availability, price and evidence</a:t>
            </a:r>
          </a:p>
          <a:p xmlns:a="http://schemas.openxmlformats.org/drawingml/2006/main">
            <a:pPr marL="228600" indent="-114300">
              <a:spcAft>
                <a:spcPts val="300"/>
              </a:spcAft>
              <a:buChar char="•"/>
              <a:def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Global / regional policy acceptance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42EA3-5572-4DFA-A105-BB4B55EA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294842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A5389-1F2F-451C-BE60-51800AB9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 portfolio combines tools because no single option optimizes every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7DED7-503A-4E2C-ADF9-3D5B66A7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ILLUSTRATIVE HORIZON — NOT A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2F3AF-CDB3-42C0-809C-E08EF959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D1137-B9C2-47D2-AB29-DCE468A6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AE45C-ACA7-4127-9232-D3A2EAE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1695A-017B-4A09-B3F7-FDB91BA1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65718-6327-417A-8BAB-717786D9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Near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874BD-5E73-4EC3-A5C9-447E19D5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Close residual timing gaps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Prioritize speed and flexibility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Verify claim eligibility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521AE-D652-4E8D-ACA1-8F4804BB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32120-29AC-4B98-9196-9CA0D578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5147D-095E-4D32-822A-89428BCE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Medium term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EB9E4-8B04-44E0-ADA1-1BD80DB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Bridge contract expiries / COD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Build market and data readiness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Reduce transition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765FA-7601-44ED-AA94-167F458C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0A5D2-40F2-478E-85BA-AE9C707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41F37-EAAE-4A56-8AF3-2C2166CD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Long term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3B4B3-91ED-420B-9DF7-B3929C33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Core volume / project linkage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Accept longer tenor selectively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Manage concentration and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1C727-1A41-4C54-9CB4-BB93FB83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SYNTHETIC portfolio archetype only — actual volumes, dates and tools require 1.4 / 1.5 analysis.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BAEB1-DF00-43CB-B801-FE12325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544416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FE7CF3-1874-4D35-90ED-0716048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Option comparison must make trade-offs explicit before any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0D0DF-4A8D-47A1-9472-4168DD63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DECISION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B3ACD-8BD2-408B-BC04-FCA7D39B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6993F-FB70-44E2-9C82-9F55C8D5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9DB73-AF98-43D5-9175-E251A2A2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60B08-93BB-42F8-A1EE-2B92BA2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430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Criterion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52416-8AE1-418B-8410-DCC6B9D8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4307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What it 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87EC4-40A2-4229-A000-60A74CCA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4307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Question before scoring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CBB93-3757-47FB-9AF7-798375FF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288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BCC53-0084-4DAE-A1FF-BF8E89D7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955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Volume /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95A40-7EA8-4B97-BF9E-AD745748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2955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Coverage and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D18DF-E958-49B4-AE6F-4F9D03C0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95525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Hard minimum or preference?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D5F93-CF46-4C88-9A74-889CDEC1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51F05-2E36-4587-8A0B-0ECD7986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956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Timing / COD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76D2B-4E0A-49AB-8ABF-FED798FF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956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Start date and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DCCDE-186F-45E1-AE3F-B1261D50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956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Latest acceptable date?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9A1A5-D2EA-48ED-8C7A-E714E87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F62E8-55D5-4556-8037-3203DB3F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956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Tenor / flexibility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C6F56-62A1-48FC-B59F-01C0CFB2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9567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Commitment, exit,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3E5D2-CBB5-41E2-8463-105B195E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95675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What flexibility has value?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FB7F11-4349-4C62-AFFD-05B19360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290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00187-24E9-4804-840E-3D8D3A7E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957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Price / settlement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F8E42-49F6-4336-B1F1-5D2B27FC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957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Structure and volatility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D8060C-4C18-4145-B972-A5405A98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9575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Which cost metric supports approval?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836F4-6682-4FA3-ACE0-16E44169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291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29C4F-FC6E-447D-9CE3-DCD0AE90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958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Risk / concentration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1EA8A-F723-4501-A442-7504E3DA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Project, counterparty, market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E7328-64F5-4802-B185-C0964C66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695825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What cannot be concentrated?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C0250B-5B13-4C96-A602-677FE7A4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292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B8927-08FD-4320-87DC-F7955DA1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959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Execution / claim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51B848-F194-4A7F-A78D-61527843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2959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Wheeling, meters, T-REC, resources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CDCFC4-5344-4AF8-9F94-97983834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959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What is operationally feasible?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5947F-1253-47D5-938C-D740273D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43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Define the scale and evidence first; scores without shared definitions create false precision.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4D1468-181B-46AA-97A5-1545BCF7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0028008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B851BB-C2D3-4D00-8F9A-99097105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Taiwan constraints need evidence-based decomposition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C6F96-3EE3-4EFE-A1F9-D9D0674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CONSTRAINTS — SOURCE BEFORE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A6E2A-8068-425D-856F-875C75C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0774F-A94A-46AB-BD36-094953C8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579C4-05FB-4AB0-8F3C-EFB7564A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24CFC-9ED7-4A15-BF37-6E5FF759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573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Constraint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F260E-B28F-4F38-AA1B-1645D515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5737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Evidence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69428-1299-4575-B77A-17B4ADDD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5737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Decision effect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9B5EE-3EA3-49B3-9331-EA42BA83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BBC98-69B3-454B-B4EC-A996FB0B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098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Supply / maturity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9F6E3-A823-4ACF-A425-C319810A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Project documents + market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0477B-42EF-4D5E-8250-A314887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9825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Volume / timing feasibility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A0D40-7968-49A7-9908-BF538A3C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184F4-3EC8-4006-BE68-3DC14813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099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Network / wheeling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21B76-CE82-4801-9DA3-1414C498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099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Official process + site / meter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E372E-CBBA-42B6-A9FC-84389598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099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Lead time /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9659A-8820-4862-A102-4190E614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97D3F-B6D5-4AAD-8C03-71B1157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99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AA771-3739-46FB-956B-DC91384B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0997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T-REC rule + verified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904E60-7BE7-4366-AA36-8353A840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09975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Claim / reconciliation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99F5B-4A35-46E7-9558-2449885B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E329E-6625-401B-96E5-6C8AAA2E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00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Contract / credit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20742-CEF5-496E-B3A7-6C63B2A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100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Bid / term sheet + counsel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A1C0D-B1AF-4318-B77F-F3B4179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1005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Risk /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377B0-4E0E-4FF4-91D3-B3A46F9A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91C01-BB58-4C55-A34C-8A794A6A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101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Profile / technology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B37A9-1912-4774-831D-8E48F436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101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Generation + load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790EE-5A33-4211-AEF2-A5DCA122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810125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Portfolio fit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C56F4-D710-4CD7-AC94-83EAA74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435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6B618-8E39-427D-8224-DAD08F71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102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Internal 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9A1C48-4D74-4968-9666-572F42E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4102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Client owner / process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BB6D3-31D4-4954-9217-2F7E07CD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410200"/>
            <a:ext cx="300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Critical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41554D-2135-4241-B967-8F626046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436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Label each statement: official rule · supplier statement · public evidence · Optimum analysis · client decision.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EE2985-C9A3-4CAF-A47F-61371583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665568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91964-D7E8-4FF3-8591-24866BBD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AMAT's strategy may depend as much on internal readiness as on external supply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161D6-9B8D-4FC8-8EBA-E929BE2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CRITICAL PATH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4B253-EF5B-46FE-BCF7-2550461F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0B163-F0D5-4891-B693-4A09E4F8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D6FDA-312A-46D5-B655-06FAB4C1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D0ACF-44B1-44BE-81BC-AD5DC1B2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50578-D71A-4A8D-8F60-6B024B5B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63B09-5DC6-4CAE-9101-2883367A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1A183-B68D-4193-8F36-18200659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07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External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EED4C-4973-48FB-A486-DADC07A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90725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Internal 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DB868-A390-4A0E-BC29-9BED127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68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Supply / project maturity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Network / wheeling process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Certificate issuance / transfer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Counterparty / commercial terms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9FAE8-8F67-4D39-9A5F-37B64E3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6863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Boundary / load / forecast data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Decision authority and budget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Legal mandate / procurement process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Site implementation and claim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1476F-E0AE-4853-9872-5DF3B19C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388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All AMAT readiness statements remain TBD WITH CLIENT; the workshop should identify the longest lead time, not assume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BB3BB-0F80-40A7-B76E-F768037A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762872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15D7D5-BA4A-41EF-8BB0-7A34666C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The next analysis needs a clear residual-gap boundary and an approved criteria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2D2EC-4091-43C2-AF97-EBA21567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HANDOFF TO 1.4–1.6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63C36-3F19-4044-A1E0-35F9B54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5E5DA-EEAD-4E21-B861-D1E3C42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F64BE-F3DE-41E7-BDAC-4FF6C9B0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13864-FA08-418C-AEE0-616798E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1.2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4B461-B662-4830-B537-37F799FF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Sites · load · target · existing procurement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EBEAF-CC28-4430-B12C-B5082B03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333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DF947-E365-412A-BE21-A022A9E1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7ADAE-F322-4727-A49D-5D691113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812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1.4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B7CAA-35CE-4A2F-9034-6C706EF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527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Baseline · target · coverage · residual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2FBA5-7BEC-4DD6-A555-9DAC5BD9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52750"/>
            <a:ext cx="333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C201-7B26-4E50-9444-32027E0F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7019F-A1EE-4E0E-82C7-D851072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1.5 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6BC8F-854A-4376-8430-4748CCEA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Scenarios · cost · risk ·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1E232-A807-49C1-958E-CB5CE2E8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3333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C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5A3BB-CDC4-4EE1-95A1-ED4EBD94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907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936A2-B29A-4695-8617-395C9DFF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812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1.6 ROADMAP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6B23B-692D-4666-9693-CFA68E13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527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Gates · owners · timing · transition to 2.x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240A8-D5DA-4F1F-AF74-4B47F59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Required approvals: calculation boundary · assumption treatment · criteria / weights · scenarios · roadmap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12724C-E720-47AB-87D5-63062B9E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Every handoff retains owner, evidence, truth status and decision date.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D54E2-E09D-49E1-B54C-11A39F38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3214363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E9085-9F9B-4FEA-9819-335C724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engagement should start only after AMAT approves what can be disclosed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698F-C0A5-4CB8-B726-EA7F1559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INFORMATION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10AF7-84F4-4313-847E-3C21DF02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CDF69-31CE-490C-8380-E2B3244E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FAF85-514F-409A-A8EE-AF81BEC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476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68ACF-F8C0-48AC-8F64-A51D86AA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DESKTOP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8ACD0-5522-498F-89DE-213C860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sources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081A6-4A87-4F9C-AD56-37802730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external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963C7-4381-4713-AB8E-B998FEC3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86125"/>
            <a:ext cx="2476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06E2B-B1FE-4549-B35D-4E44D648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5757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ANONYMOUS SOUNDING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D1F3E-D396-4265-80C6-794D372B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766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Fictional / rounded band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1FD36-4DCB-43A1-94D9-B84EF8DA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2767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identity or exact 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1D017-403A-4FA6-8A74-4FF336F9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67000"/>
            <a:ext cx="2476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42F11-C01F-41CC-B94D-3E8FB742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NAMED OUTREACH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E15DA-61FD-4FE7-AF3D-6165AEA2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Authorized identity + range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F43EA-B47F-4CFC-967E-4AA17949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false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F957A-3380-481A-B3C7-2185CB66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47875"/>
            <a:ext cx="2476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775FE-F3C4-4790-B5EC-16194CFC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19325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RFQ / NEGOTIATION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44D-BE8C-47F2-ACC5-2927E281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3842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Approved bidder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5679EF-5F83-4EBA-A97B-5DAF451A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3847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 cross-supplier disclosure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86D12F-35CD-4F88-9A0D-426A27E6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197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Client authorization must define identity · volume · site · timing · recipients · permitted 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03C37-C937-4158-9D00-FE22582E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15479596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1DBA77-4C79-4059-AAC1-728626F1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Close with decisions, owners and dates that unlock 1.4–1.6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26E63-42C5-4ED0-9B74-ABE5919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WORKSHOP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36769-157F-4520-A451-2FC54DF8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27AE7-49F3-40FA-BB35-EAC4F79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CDDFB-C361-4283-B1CF-792D80A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CE87B-8F6E-42F5-890E-54EE1323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E95E8-9DED-484C-9E02-0843920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3496F-2F0C-4612-AFD3-DA6A3A56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097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Success 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4A4F7-B0DA-4F89-8505-2BA94C77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6808C-2539-46A1-858E-23D0D9E7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448ED-AE85-4359-93E6-E0322A7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0179-73F2-46D6-BEB6-B3E930C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860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Gap / target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2CDCD-FE81-4ECB-A0CE-E1A28A7C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E4EFD-9672-4993-9666-3A791755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F5B4C-06F1-4C3B-92FB-8FB33314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41689-4B65-4FB9-B72D-A4E70F35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623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Options for first-pass 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CB5D0-23E2-4A84-9122-B858E55B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D5852-89E8-4EE9-AC24-75CE5DA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556AA-E6C1-4D37-8909-E02E4CA5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0A36D-D8CA-4C3C-8AEF-092EB8B1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386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Hard constraints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A8D7A-81DB-4C8B-93BD-92F86108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C3F3B-F8C6-4156-B7FC-100BD61B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37A3B-4024-42F2-9655-7AB90FE4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54A09-7337-4AD4-884F-067EBEE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097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Criteria /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BC320-4044-4E47-93E4-586F1951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02485-F26D-47A9-9EE2-4C1CD343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27D5B-9798-486D-AED1-696351F0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E2D57-39DB-49E1-98BA-65FB628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860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Market disclosure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E2D85-8068-4B72-87C8-FA913B9C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04A01-C186-4B69-A1B3-22EAEA0C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F6925B-79B0-465B-90E4-D2D5F434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D3474F-E112-4173-B372-5879F8EB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5623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Data / research owners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2B2BA-3FA6-4197-81C4-F6DE63A7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523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7E7D73-12F0-4C9A-9B14-086EC219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7A13D7-2161-4792-A987-4A4ABE2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821774-3532-4E0C-966B-E60B0A45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438650"/>
            <a:ext cx="433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G1 / G2 decision dates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44456C-B66C-419F-BFFB-09F18670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APPROVE · APPROVE WITH CONDITIONS · DEFER WITH OWNER / DATE · RE-SCOPE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368CD1-3111-4DF2-9BA5-07BE2507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Discussion draft | PRE-KICKOFF | AMAT-specific facts TBD</a:t>
            </a:r>
          </a:p>
        </p:txBody>
      </p:sp>
    </p:spTree>
    <p:extLst>
      <p:ext uri="{BB962C8B-B14F-4D97-AF65-F5344CB8AC3E}">
        <p14:creationId xmlns:p14="http://schemas.microsoft.com/office/powerpoint/2010/main" val="720718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2026-09-27T04:24:33.9080000Z</dcterms:created>
  <dcterms:modified xsi:type="dcterms:W3CDTF">2026-09-27T04:24:33.9080000Z</dcterms:modified>
</coreProperties>
</file>