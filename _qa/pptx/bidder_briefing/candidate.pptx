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e959f942541f7" /><Relationship Type="http://schemas.openxmlformats.org/officeDocument/2006/relationships/extended-properties" Target="/docProps/app.xml" Id="R7af8f6a871c0433f" /><Relationship Type="http://schemas.openxmlformats.org/officeDocument/2006/relationships/officeDocument" Target="/ppt/presentation.xml" Id="R6c50ae8e97c9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93e18f79b447cf"/>
  </p:sldMasterIdLst>
  <p:notesMasterIdLst>
    <p:notesMasterId xmlns:r="http://schemas.openxmlformats.org/officeDocument/2006/relationships" r:id="R8f765a4b9e2a41a8"/>
  </p:notesMasterIdLst>
  <p:sldIdLst>
    <p:sldId xmlns:r="http://schemas.openxmlformats.org/officeDocument/2006/relationships" id="256" r:id="R76f90f927fbf4ae1"/>
    <p:sldId xmlns:r="http://schemas.openxmlformats.org/officeDocument/2006/relationships" id="257" r:id="R7783f3f44bcf495b"/>
    <p:sldId xmlns:r="http://schemas.openxmlformats.org/officeDocument/2006/relationships" id="258" r:id="Red49543398fd4781"/>
    <p:sldId xmlns:r="http://schemas.openxmlformats.org/officeDocument/2006/relationships" id="259" r:id="R9b30a9f97b1540f1"/>
    <p:sldId xmlns:r="http://schemas.openxmlformats.org/officeDocument/2006/relationships" id="260" r:id="Rac0705ca64a94e0c"/>
    <p:sldId xmlns:r="http://schemas.openxmlformats.org/officeDocument/2006/relationships" id="261" r:id="R313fca12605f4950"/>
    <p:sldId xmlns:r="http://schemas.openxmlformats.org/officeDocument/2006/relationships" id="262" r:id="R6d8535f35c2d4902"/>
    <p:sldId xmlns:r="http://schemas.openxmlformats.org/officeDocument/2006/relationships" id="263" r:id="Rb706db70e8f546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aefc7cb9944392" /><Relationship Type="http://schemas.openxmlformats.org/officeDocument/2006/relationships/slideMaster" Target="/ppt/slideMasters/slideMaster1.xml" Id="R9293e18f79b447cf" /><Relationship Type="http://schemas.openxmlformats.org/officeDocument/2006/relationships/notesMaster" Target="/ppt/notesMasters/notesMaster1.xml" Id="R8f765a4b9e2a41a8" /><Relationship Type="http://schemas.openxmlformats.org/officeDocument/2006/relationships/presProps" Target="/ppt/presProps.xml" Id="R77888b992d3a4061" /><Relationship Type="http://schemas.openxmlformats.org/officeDocument/2006/relationships/tableStyles" Target="/ppt/tableStyles.xml" Id="Rc0543a735f824155" /><Relationship Type="http://schemas.openxmlformats.org/officeDocument/2006/relationships/slide" Target="/ppt/slides/slide1.xml" Id="R76f90f927fbf4ae1" /><Relationship Type="http://schemas.openxmlformats.org/officeDocument/2006/relationships/slide" Target="/ppt/slides/slide2.xml" Id="R7783f3f44bcf495b" /><Relationship Type="http://schemas.openxmlformats.org/officeDocument/2006/relationships/slide" Target="/ppt/slides/slide3.xml" Id="Red49543398fd4781" /><Relationship Type="http://schemas.openxmlformats.org/officeDocument/2006/relationships/slide" Target="/ppt/slides/slide4.xml" Id="R9b30a9f97b1540f1" /><Relationship Type="http://schemas.openxmlformats.org/officeDocument/2006/relationships/slide" Target="/ppt/slides/slide5.xml" Id="Rac0705ca64a94e0c" /><Relationship Type="http://schemas.openxmlformats.org/officeDocument/2006/relationships/slide" Target="/ppt/slides/slide6.xml" Id="R313fca12605f4950" /><Relationship Type="http://schemas.openxmlformats.org/officeDocument/2006/relationships/slide" Target="/ppt/slides/slide7.xml" Id="R6d8535f35c2d4902" /><Relationship Type="http://schemas.openxmlformats.org/officeDocument/2006/relationships/slide" Target="/ppt/slides/slide8.xml" Id="Rb706db70e8f546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38ddbc24f47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b49d1599414494" /><Relationship Type="http://schemas.openxmlformats.org/officeDocument/2006/relationships/notesMaster" Target="/ppt/notesMasters/notesMaster1.xml" Id="R8af0dd2d3ae342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a804f4facb4fd7" /><Relationship Type="http://schemas.openxmlformats.org/officeDocument/2006/relationships/notesMaster" Target="/ppt/notesMasters/notesMaster1.xml" Id="Rf369e7615f5c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810f75882482d" /><Relationship Type="http://schemas.openxmlformats.org/officeDocument/2006/relationships/notesMaster" Target="/ppt/notesMasters/notesMaster1.xml" Id="Rd49dbc2f21be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03ab67ae22422f" /><Relationship Type="http://schemas.openxmlformats.org/officeDocument/2006/relationships/notesMaster" Target="/ppt/notesMasters/notesMaster1.xml" Id="R129b97eb45d445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602e8aaf2b4d9a" /><Relationship Type="http://schemas.openxmlformats.org/officeDocument/2006/relationships/notesMaster" Target="/ppt/notesMasters/notesMaster1.xml" Id="Rca2909796011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9aaa5341b743ea" /><Relationship Type="http://schemas.openxmlformats.org/officeDocument/2006/relationships/notesMaster" Target="/ppt/notesMasters/notesMaster1.xml" Id="R38df0baed71a4e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57372a6ee940c8" /><Relationship Type="http://schemas.openxmlformats.org/officeDocument/2006/relationships/notesMaster" Target="/ppt/notesMasters/notesMaster1.xml" Id="R528a9b5b999644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f2de0173b146d3" /><Relationship Type="http://schemas.openxmlformats.org/officeDocument/2006/relationships/notesMaster" Target="/ppt/notesMasters/notesMaster1.xml" Id="R3ddd3518401a45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External-facing structure draft. Actual buyer identity, requirements, dates, contacts and process status are TBD WITH CLIENT and require Procurement / Legal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Which issued assumption cannot be met, and what comparable alternative is proposed?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the bidder trace every offered MWh and certificate to a controlled / committed supply block?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Can the bidder reconcile its component prices to the submitted all-in example?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Which material evidence will not be available by the response deadline?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Does any ambiguity require a common addendum before submission?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Question: Does the bidder understand which missing evidence may make an offer conditional or non-compliant?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restate non-binding / issued-process status and direct all questions to the approved contact.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b81381ddd43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f5e0b71b74ba8" /><Relationship Type="http://schemas.openxmlformats.org/officeDocument/2006/relationships/slideLayout" Target="/ppt/slideLayouts/slideLayout1.xml" Id="R2d0696d562aa40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696d562aa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ef97099b84c00" /><Relationship Type="http://schemas.openxmlformats.org/officeDocument/2006/relationships/notesSlide" Target="/ppt/notesSlides/notesSlide1.xml" Id="R33ca2712312342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5985f7b254719" /><Relationship Type="http://schemas.openxmlformats.org/officeDocument/2006/relationships/notesSlide" Target="/ppt/notesSlides/notesSlide2.xml" Id="R68fcd2ee321042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6516ee0ed4adc" /><Relationship Type="http://schemas.openxmlformats.org/officeDocument/2006/relationships/notesSlide" Target="/ppt/notesSlides/notesSlide3.xml" Id="R7ba70a7e15724a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bbeb6943f4faf" /><Relationship Type="http://schemas.openxmlformats.org/officeDocument/2006/relationships/notesSlide" Target="/ppt/notesSlides/notesSlide4.xml" Id="R1b99ff1a64ae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7e9bda702461e" /><Relationship Type="http://schemas.openxmlformats.org/officeDocument/2006/relationships/notesSlide" Target="/ppt/notesSlides/notesSlide5.xml" Id="Rb2317fed8e41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f492958f64352" /><Relationship Type="http://schemas.openxmlformats.org/officeDocument/2006/relationships/notesSlide" Target="/ppt/notesSlides/notesSlide6.xml" Id="R5c5b1414a8fd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4a9ae0304563" /><Relationship Type="http://schemas.openxmlformats.org/officeDocument/2006/relationships/notesSlide" Target="/ppt/notesSlides/notesSlide7.xml" Id="R1d814e29eb4e41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af9f8749541f5" /><Relationship Type="http://schemas.openxmlformats.org/officeDocument/2006/relationships/notesSlide" Target="/ppt/notesSlides/notesSlide8.xml" Id="R5fdd64a684e3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1531D-A7B9-4544-BC81-8AE5D27E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0BB3C-1F71-41CB-97EB-B67DF787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2FBDA-F85B-434A-90E4-E163D59F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87D0CE"/>
                </a:solidFill>
                <a:latin typeface="Microsoft JhengHei"/>
                <a:ea typeface="Microsoft JhengHei"/>
                <a:cs typeface="Microsoft JhengHei"/>
              </a:rPr>
              <a:t>OPTIMUM / AMAT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84741-3081-43EA-B131-6C0E4DAB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Comparable proposals require common assumptions and explicit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A6A3-E0A3-49FE-ABBC-25C082F5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D9E5EE"/>
                </a:solidFill>
                <a:latin typeface="Microsoft JhengHei"/>
                <a:ea typeface="Microsoft JhengHei"/>
                <a:cs typeface="Microsoft JhengHei"/>
              </a:rPr>
              <a:t>Targeted renewable electricity RFQ / RFP | bidder briefing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79DE-E245-404F-9D64-BBB646DA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3F448-D533-41D8-9107-56E97584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UNDERSTAND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F3253-C6EF-4B97-A9F3-0FEA0A2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E6DE2-99B4-4CD8-BE67-CEC82EEC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ABBB5-D25F-414D-86C7-93FF47D6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DC214-D302-45AE-909B-44B765B9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7EFCE-A6D3-453E-8C86-87B2D4AB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767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2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DCC04-A1F1-4B92-86A0-2B22E01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SUBMIT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4C9FB-40D4-403D-A4BF-ED8600E3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B9CAD8"/>
                </a:solidFill>
                <a:latin typeface="Microsoft JhengHei"/>
                <a:ea typeface="Microsoft JhengHei"/>
                <a:cs typeface="Microsoft JhengHei"/>
              </a:rPr>
              <a:t>PRE-KICKOFF DRAFT · 2026-09-27</a:t>
            </a:r>
          </a:p>
        </p:txBody>
      </p:sp>
    </p:spTree>
    <p:extLst>
      <p:ext uri="{BB962C8B-B14F-4D97-AF65-F5344CB8AC3E}">
        <p14:creationId xmlns:p14="http://schemas.microsoft.com/office/powerpoint/2010/main" val="1641537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07B8A-D785-4AB0-8A0F-4BE088E2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Respond to the issued assumptions and expose every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F3087-D122-4DC2-8CBC-4559A8D3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REQUIREMENT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54911-36C9-4A37-B04F-9A7F62E8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35323-C3D6-4307-9220-AEFAE82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FA11A-95F6-4CCF-8757-DD383F96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3AB0B-C976-40F6-AD66-FDDEAC4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C649A-27BA-42E1-A79F-8473DF22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693EE-261E-4F94-911A-C709F90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B01C0-2DAC-4C4E-9421-BA8D5359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Use the issued basis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1FBC0-69C9-47D6-A34D-C7F6F480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State every 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BB812-129B-46C6-8633-8368CB6F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Volume / profile / start range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Common units, currency and base date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Tenor and flexibility definitions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 / meter boundary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Certificate / claim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A4D37-42BF-46B2-9BD1-8EDD3CE6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Alternative assumption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Dependency and owner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Price / timing effect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 status and validity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Requested clarification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32215-EC6C-4432-8DA3-506C0B55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 blank means NOT PROVIDED — never assume zero or acceptance.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03F00-0E98-4173-B127-3EF4B4AA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637216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0D3EB-E0A9-4615-939B-93D962F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Separate the contracting entity, route and underlying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19F77-84C9-463D-B598-6E76C182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OFFER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B8350-6EDC-43C9-864B-F35A8D25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5E9EE-E7EC-4580-9FD4-B32C5D0F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9C7BA-CDA9-4A63-9A3A-1EFB8E49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352C4-FDDA-45A4-8821-8E1309D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605A3-09DC-496C-89C3-C4BD048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Contracting 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9A8EF-6FCB-437B-88D0-19F43049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Legal entity and role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Retailer / generator / developer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Parent / guarantor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Authority and conflicts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EA3F5-AAFA-492F-9073-3547EEB2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7C2DA-6D9C-4CDA-8F86-77D6E709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9B8F5-FAB1-48E8-9687-F12E3C0B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Commercial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23C3B-F466-4CCC-A999-1DEACEFA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Offer and route IDs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Electricity / settlement interface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 / meter responsibilities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Substitution / aggregation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886F3-F06C-4B17-98F5-F725E87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9FF9D-5298-4B9F-A64F-09F04BC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9DE84-419E-4091-ABB3-2B5537F0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Asset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281C7-DE2D-4C6C-9FF6-993E17E5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Asset ID and control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Technology / location band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Maturity / COD / volume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No duplicate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7254F-C23F-4944-B234-CAEBDDA2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Company capability is not asset availability; each material claim needs an evidence ID and as-of date.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E5575-86A7-4C2D-9CBA-2FA6F4F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005470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07CDD-A50F-4DD5-A2C2-80AA29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Price must reconcile from components to an all-in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C6546-2869-432B-8CA9-F024F02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PRICING COMPARABILITY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8A17F-2F6B-4F7D-A45E-C87E7D5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D46F1-85CE-4BBC-8E33-CDE15C3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5E200-017A-46DF-947A-C3D48462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1019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062BB-B0CE-4A29-8034-861B98F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573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7617C-DC1E-4FA9-83E4-C916694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573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Required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7428F-74FF-4934-B638-A5069396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8573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Dependency / sensitivity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337CF-6AB5-43C0-BB63-9E4DA7A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C18E8-C02F-4BCF-960E-CDF80AFF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098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Energy / premium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C48EC-285B-4E4F-9542-D206CECF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09825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NTD/MWh + base 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C8050-2776-4AE6-8410-47455702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098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Index /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50657-050B-4010-A89E-28CCDBBD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751F3-D001-4665-AE90-5F1B6006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099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Wheeling /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B409D3-AA3A-473F-AD84-38D035E1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099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Separate component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79591-BF26-4AEB-A602-E1810F5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0099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Tariff / pass-through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80F08-90FC-4A63-A6E0-260A75C1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9E27D-183B-4751-8BAE-538AEC6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99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45637-F8A3-4809-AC69-A5C2AC0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09975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Bundled or separate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BEA9E-2D3D-4996-8083-72A4B8C7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0997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Vintage /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EA4A5-D725-45DB-86D7-A3333FF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67B15-56DB-4F26-818B-4E13DFB7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Implementation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97ABB-0BB8-466B-91D0-1BE80E4D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10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One-off NTD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3CD50-56F1-438B-BF3E-5F89145F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2100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System / meter /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76192-7E05-4EE0-AD73-7B07D1C1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1019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49E704-5CBD-4C96-8AAC-9EE6422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101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Credit / 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44C11B-94E7-4949-A815-D5BC83F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10125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Explicit cost / assumption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248DB-84A5-4AA7-A627-E36C58A1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Guarantee / collateral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8E061-4919-4BEC-87DE-B4A8CA7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State currency, unit, tax, fees, losses, caps / floors, exclusions, validity and sensitivity.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B24D5-6CA4-4322-A729-4F8EC3BE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915559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09587-A9BD-4395-B45B-349B27C5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Delivery and certificate claims require dated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3C15B-0066-4507-931E-C6BD0E02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EXECUTION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BD357-02FD-491B-8703-32460C3B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BDBE8-A90C-4565-94B3-0D44B4AC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4AF88-59F9-4A9A-A2CC-F5245F3C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676C7-3F39-49BA-959B-1F1B7B56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2136-F971-44E6-B7CE-FE681280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0CACB-80D6-43F0-A8BA-D2344F0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56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748EA-E1C1-4CB6-A175-896D46A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Delivery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EAE19-8B84-4D91-92C8-695BC58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Certificate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F8D50-3ECD-430F-8A04-BCA28BC1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COD / start milestones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Volume / profile / allocation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Delay and shortfall treatment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Wheeling / meter prerequisites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Implementation owner / resources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4BDA2-9C2E-4426-9C42-2D3903C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Issuance and transfer path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Ownership and timing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No double claim / allocation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Invalid / late replacement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Reconciliation and 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DC42D-486D-4645-B6C0-E273D75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Mark evidence: provided now · available in DD · unavailable · not applicable.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BA955-834C-4B4B-A1E2-EE97935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651734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BD91FF-E880-43F4-9E3B-78B4F62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One Q&amp;A channel preserves equal information and a clean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5503D-67AC-4222-AEC7-DF9AB117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Q&amp;A AND ADDENDA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2FC62-66ED-49AA-B9E5-1E03BA5E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4ADC6-F51A-4B95-97D8-637464C1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2C0E7-424F-4CBF-BB2C-F33D429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2DA33-2463-4F5D-B314-4D92541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F4BF3-4CA7-4E70-BFE9-A8BC11C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EAA20-7967-45F7-A18C-FAB8EA20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Use the designated channel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Reference question / assumption ID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Identify confidential context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Meet the stated deadline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186DD-FE3D-4D50-86D5-1AE800F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5DC2C-50DD-4F5E-A8F0-9D1AC71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306C8-A668-4046-B6E2-96375449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B2C63-60DA-4F93-8519-1A89C3C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Clarify common assumptions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Separate bidder-specific confidentiality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Do not infer side conversations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Record response owner /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39114-8ADE-433E-A307-4F4AF2B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529D1-6B84-4590-BF44-E9A8F0F7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809750"/>
            <a:ext cx="34925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5CC46-B169-4745-A594-2C7914A9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076450"/>
            <a:ext cx="307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Amend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2A019-C568-4019-9E03-01F80B66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743200"/>
            <a:ext cx="311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Number every addendum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Share material common changes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Require acknowledgement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Preserve original 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B1B30-F3EA-47AF-8160-4E839023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No side-channel lobbying and no access to another bidder's confidential offer.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0974A-EB0C-480D-AF0A-4032AA8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307835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B68D-9ABD-4DFB-8319-55EDABFE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Evaluation starts with compliance, then value and due diligence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884DB-9B66-47AB-B2C2-83958031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EVALUATION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2E48-68DB-449B-83B0-26229AAE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495C4-C0A3-46A8-8D39-F992858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5AA9E-3B03-4C79-9ABA-7A364B60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17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16AB6-948B-4D21-BEE5-1E7FE788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24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COMPLIANCE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FFFCD-4819-4F4B-836D-B5668C1A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Mandatory fields · hard constraints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C8C0F-B95A-4342-840C-F8897F9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05505-41CC-4A4C-83CB-BF138004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24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CA05D-3851-4DCA-BC47-804CA05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956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Normalized commercial · fit · flexibility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E5294-F909-43FF-9E83-019FB4AE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362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B9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EAFD0-E3B1-4C65-B8FC-0C0607FB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24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DD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0F041-6EBD-4E01-8D36-4BD27B56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Project · execution · certificate · credit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C319E-D4A0-45F4-9D57-FCCFA394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33625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9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51F87-F219-48F3-9B21-DCB46F53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24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 SHORTLIST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F0A15-4AA7-4A57-9278-22346E5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956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Conditions · fallback · mandate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D223F-AF52-47CA-B172-2928D26E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The lowest headline price does not guarantee selection; final weights and authority are TBD WITH CLIENT.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86A2F-4077-4DE2-AE80-B5B8DA2A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0262912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853CA-2D3A-49F4-B1D5-36FC8AB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Submit a complete, traceable response by the approved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D4345-9B6C-46B2-915A-C630E272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8A8F"/>
                </a:solidFill>
                <a:latin typeface="Microsoft JhengHei"/>
                <a:ea typeface="Microsoft JhengHei"/>
                <a:cs typeface="Microsoft JhengHei"/>
              </a:rPr>
              <a:t>SUBMISSION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91A8E-2492-494B-B37F-B923E10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DFA8E-D7E1-4904-AFB3-95930800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0F628-9AAC-475D-AFDB-52F1809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E02E5-0557-43C6-BDEE-E34D43E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A8E29-5FFC-48E0-B6F7-F779DAF3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A8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62999-C22E-456C-9EB6-359BE019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62125"/>
            <a:ext cx="514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B3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64207-6A66-4854-A200-A73220B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Before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DB438-BCA2-4EE4-9788-49AAA88A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7395F"/>
                </a:solidFill>
                <a:latin typeface="Microsoft JhengHei"/>
                <a:ea typeface="Microsoft JhengHei"/>
                <a:cs typeface="Microsoft JhengHei"/>
              </a:rPr>
              <a:t>Process details — TBD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21836-8BC9-4F13-BB44-2AD3F8D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Profile and authorized contact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Offer / route / asset IDs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Pricing reconciliation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Risk / term deviations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Evidence index and confidentiality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Validity and conflicts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5788-F9B1-4D99-B85A-ECDB079D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81275"/>
            <a:ext cx="4686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Issue / briefing date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Question deadline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Addendum cutoff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Submission deadline + time zone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Approved channel / file naming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82433"/>
                </a:solidFill>
                <a:latin typeface="Microsoft JhengHei"/>
                <a:ea typeface="Microsoft JhengHei"/>
                <a:cs typeface="Microsoft JhengHei"/>
              </a:rPr>
              <a:t>Single point of contact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8074D-5703-4421-9651-5381B3A0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64D55"/>
                </a:solidFill>
                <a:latin typeface="Microsoft JhengHei"/>
                <a:ea typeface="Microsoft JhengHei"/>
                <a:cs typeface="Microsoft JhengHei"/>
              </a:rPr>
              <a:t>Actual dates, buyer identity, contacts and legal process terms appear only in the client-approved issued package.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E1F81-F32E-4D47-BB13-8149E5BF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536171"/>
                </a:solidFill>
                <a:latin typeface="Microsoft JhengHei"/>
                <a:ea typeface="Microsoft JhengHei"/>
                <a:cs typeface="Microsoft JhengHei"/>
              </a:rPr>
              <a:t>Bidder briefing draft | Process status and dates TBD WITH CLIENT</a:t>
            </a:r>
          </a:p>
        </p:txBody>
      </p:sp>
    </p:spTree>
    <p:extLst>
      <p:ext uri="{BB962C8B-B14F-4D97-AF65-F5344CB8AC3E}">
        <p14:creationId xmlns:p14="http://schemas.microsoft.com/office/powerpoint/2010/main" val="1263772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2026-09-27T05:36:48.9160000Z</dcterms:created>
  <dcterms:modified xsi:type="dcterms:W3CDTF">2026-09-27T05:36:48.9160000Z</dcterms:modified>
</coreProperties>
</file>